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2" roundtripDataSignature="AMtx7mjw2li6EL39l7X1o+kL3ydD8qVlA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ABADCC9-80D9-4A51-9E3C-264ECB128489}">
  <a:tblStyle styleId="{0ABADCC9-80D9-4A51-9E3C-264ECB128489}"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customschemas.google.com/relationships/presentationmetadata" Target="metadata"/><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 name="Google Shape;9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 name="Google Shape;9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 name="Google Shape;10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 name="Google Shape;11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9"/>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9"/>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0" name="Google Shape;20;p19"/>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0"/>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3200"/>
              <a:buFont typeface="Calibri"/>
              <a:buNone/>
              <a:defRPr sz="32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20"/>
          <p:cNvSpPr txBox="1"/>
          <p:nvPr>
            <p:ph idx="11"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4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5" name="Google Shape;25;p20"/>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6" name="Google Shape;26;p20"/>
          <p:cNvSpPr/>
          <p:nvPr/>
        </p:nvSpPr>
        <p:spPr>
          <a:xfrm>
            <a:off x="0" y="666750"/>
            <a:ext cx="9144000" cy="45719"/>
          </a:xfrm>
          <a:prstGeom prst="rect">
            <a:avLst/>
          </a:prstGeom>
          <a:solidFill>
            <a:srgbClr val="E36C0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7" name="Google Shape;27;p20"/>
          <p:cNvPicPr preferRelativeResize="0"/>
          <p:nvPr/>
        </p:nvPicPr>
        <p:blipFill rotWithShape="1">
          <a:blip r:embed="rId2">
            <a:alphaModFix/>
          </a:blip>
          <a:srcRect b="0" l="0" r="0" t="0"/>
          <a:stretch/>
        </p:blipFill>
        <p:spPr>
          <a:xfrm>
            <a:off x="6934200" y="116292"/>
            <a:ext cx="1981200" cy="512569"/>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8" name="Shape 28"/>
        <p:cNvGrpSpPr/>
        <p:nvPr/>
      </p:nvGrpSpPr>
      <p:grpSpPr>
        <a:xfrm>
          <a:off x="0" y="0"/>
          <a:ext cx="0" cy="0"/>
          <a:chOff x="0" y="0"/>
          <a:chExt cx="0" cy="0"/>
        </a:xfrm>
      </p:grpSpPr>
      <p:sp>
        <p:nvSpPr>
          <p:cNvPr id="29" name="Google Shape;29;p21"/>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1"/>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31" name="Google Shape;31;p21"/>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32" name="Google Shape;32;p21"/>
          <p:cNvSpPr txBox="1"/>
          <p:nvPr>
            <p:ph idx="11" type="ftr"/>
          </p:nvPr>
        </p:nvSpPr>
        <p:spPr>
          <a:xfrm>
            <a:off x="3810000" y="4869656"/>
            <a:ext cx="4114800" cy="273844"/>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4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2"/>
          <p:cNvSpPr txBox="1"/>
          <p:nvPr>
            <p:ph idx="1" type="body"/>
          </p:nvPr>
        </p:nvSpPr>
        <p:spPr>
          <a:xfrm>
            <a:off x="457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2"/>
          <p:cNvSpPr txBox="1"/>
          <p:nvPr>
            <p:ph idx="2" type="body"/>
          </p:nvPr>
        </p:nvSpPr>
        <p:spPr>
          <a:xfrm>
            <a:off x="4648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2"/>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22"/>
          <p:cNvSpPr txBox="1"/>
          <p:nvPr>
            <p:ph idx="11" type="ftr"/>
          </p:nvPr>
        </p:nvSpPr>
        <p:spPr>
          <a:xfrm>
            <a:off x="3810000" y="4869656"/>
            <a:ext cx="28956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9" name="Google Shape;39;p22"/>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3"/>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3"/>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3"/>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3"/>
          <p:cNvSpPr txBox="1"/>
          <p:nvPr>
            <p:ph idx="3" type="body"/>
          </p:nvPr>
        </p:nvSpPr>
        <p:spPr>
          <a:xfrm>
            <a:off x="4645026"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3"/>
          <p:cNvSpPr txBox="1"/>
          <p:nvPr>
            <p:ph idx="4" type="body"/>
          </p:nvPr>
        </p:nvSpPr>
        <p:spPr>
          <a:xfrm>
            <a:off x="4645026"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3"/>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7" name="Google Shape;47;p23"/>
          <p:cNvSpPr txBox="1"/>
          <p:nvPr>
            <p:ph idx="11" type="ftr"/>
          </p:nvPr>
        </p:nvSpPr>
        <p:spPr>
          <a:xfrm>
            <a:off x="3810000" y="4869656"/>
            <a:ext cx="28956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8" name="Google Shape;48;p23"/>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4"/>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4"/>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2" name="Google Shape;52;p24"/>
          <p:cNvSpPr txBox="1"/>
          <p:nvPr>
            <p:ph idx="11" type="ftr"/>
          </p:nvPr>
        </p:nvSpPr>
        <p:spPr>
          <a:xfrm>
            <a:off x="3810000" y="4869656"/>
            <a:ext cx="28956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24"/>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6" name="Google Shape;56;p25"/>
          <p:cNvSpPr txBox="1"/>
          <p:nvPr>
            <p:ph idx="11" type="ftr"/>
          </p:nvPr>
        </p:nvSpPr>
        <p:spPr>
          <a:xfrm>
            <a:off x="3810000" y="4869656"/>
            <a:ext cx="28956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7" name="Google Shape;57;p25"/>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6"/>
          <p:cNvSpPr txBox="1"/>
          <p:nvPr>
            <p:ph type="title"/>
          </p:nvPr>
        </p:nvSpPr>
        <p:spPr>
          <a:xfrm>
            <a:off x="457201" y="204787"/>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6"/>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6"/>
          <p:cNvSpPr txBox="1"/>
          <p:nvPr>
            <p:ph idx="2" type="body"/>
          </p:nvPr>
        </p:nvSpPr>
        <p:spPr>
          <a:xfrm>
            <a:off x="457201" y="1076326"/>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6"/>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26"/>
          <p:cNvSpPr txBox="1"/>
          <p:nvPr>
            <p:ph idx="11" type="ftr"/>
          </p:nvPr>
        </p:nvSpPr>
        <p:spPr>
          <a:xfrm>
            <a:off x="3810000" y="4869656"/>
            <a:ext cx="28956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4" name="Google Shape;64;p26"/>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7"/>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7"/>
          <p:cNvSpPr/>
          <p:nvPr>
            <p:ph idx="2" type="pic"/>
          </p:nvPr>
        </p:nvSpPr>
        <p:spPr>
          <a:xfrm>
            <a:off x="1792288" y="459581"/>
            <a:ext cx="5486400" cy="3086100"/>
          </a:xfrm>
          <a:prstGeom prst="rect">
            <a:avLst/>
          </a:prstGeom>
          <a:noFill/>
          <a:ln>
            <a:noFill/>
          </a:ln>
        </p:spPr>
      </p:sp>
      <p:sp>
        <p:nvSpPr>
          <p:cNvPr id="68" name="Google Shape;68;p27"/>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7"/>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27"/>
          <p:cNvSpPr txBox="1"/>
          <p:nvPr>
            <p:ph idx="11" type="ftr"/>
          </p:nvPr>
        </p:nvSpPr>
        <p:spPr>
          <a:xfrm>
            <a:off x="3810000" y="4869656"/>
            <a:ext cx="28956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1" name="Google Shape;71;p27"/>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8"/>
          <p:cNvSpPr txBox="1"/>
          <p:nvPr>
            <p:ph idx="1" type="body"/>
          </p:nvPr>
        </p:nvSpPr>
        <p:spPr>
          <a:xfrm rot="5400000">
            <a:off x="2874764" y="-1217413"/>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8"/>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28"/>
          <p:cNvSpPr txBox="1"/>
          <p:nvPr>
            <p:ph idx="11" type="ftr"/>
          </p:nvPr>
        </p:nvSpPr>
        <p:spPr>
          <a:xfrm>
            <a:off x="3810000" y="4869656"/>
            <a:ext cx="28956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28"/>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9"/>
          <p:cNvSpPr txBox="1"/>
          <p:nvPr>
            <p:ph type="title"/>
          </p:nvPr>
        </p:nvSpPr>
        <p:spPr>
          <a:xfrm rot="5400000">
            <a:off x="5463778" y="1371601"/>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9"/>
          <p:cNvSpPr txBox="1"/>
          <p:nvPr>
            <p:ph idx="1" type="body"/>
          </p:nvPr>
        </p:nvSpPr>
        <p:spPr>
          <a:xfrm rot="5400000">
            <a:off x="1272778" y="-609599"/>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9"/>
          <p:cNvSpPr txBox="1"/>
          <p:nvPr>
            <p:ph idx="10" type="dt"/>
          </p:nvPr>
        </p:nvSpPr>
        <p:spPr>
          <a:xfrm>
            <a:off x="457200" y="4767263"/>
            <a:ext cx="21336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29"/>
          <p:cNvSpPr txBox="1"/>
          <p:nvPr>
            <p:ph idx="11" type="ftr"/>
          </p:nvPr>
        </p:nvSpPr>
        <p:spPr>
          <a:xfrm>
            <a:off x="3810000" y="4869656"/>
            <a:ext cx="28956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29"/>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3.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8"/>
          <p:cNvSpPr/>
          <p:nvPr/>
        </p:nvSpPr>
        <p:spPr>
          <a:xfrm>
            <a:off x="0" y="4888706"/>
            <a:ext cx="9144000" cy="254794"/>
          </a:xfrm>
          <a:prstGeom prst="rect">
            <a:avLst/>
          </a:prstGeom>
          <a:solidFill>
            <a:srgbClr val="538C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 name="Google Shape;11;p1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18"/>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 name="Google Shape;13;p18"/>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2000"/>
              <a:buFont typeface="Arial"/>
              <a:buNone/>
              <a:defRPr b="0" i="0" sz="2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18"/>
          <p:cNvSpPr txBox="1"/>
          <p:nvPr/>
        </p:nvSpPr>
        <p:spPr>
          <a:xfrm>
            <a:off x="0" y="4869656"/>
            <a:ext cx="3276600" cy="27384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000"/>
              <a:buFont typeface="Arial"/>
              <a:buNone/>
            </a:pPr>
            <a:r>
              <a:rPr b="1" lang="en-US" sz="1000">
                <a:solidFill>
                  <a:schemeClr val="lt1"/>
                </a:solidFill>
                <a:latin typeface="Calibri"/>
                <a:ea typeface="Calibri"/>
                <a:cs typeface="Calibri"/>
                <a:sym typeface="Calibri"/>
              </a:rPr>
              <a:t>© 2025  Skillogic ®</a:t>
            </a:r>
            <a:r>
              <a:rPr lang="en-US" sz="1050">
                <a:solidFill>
                  <a:schemeClr val="dk1"/>
                </a:solidFill>
                <a:latin typeface="Calibri"/>
                <a:ea typeface="Calibri"/>
                <a:cs typeface="Calibri"/>
                <a:sym typeface="Calibri"/>
              </a:rPr>
              <a:t> </a:t>
            </a:r>
            <a:r>
              <a:rPr b="1" lang="en-US" sz="1000">
                <a:solidFill>
                  <a:schemeClr val="lt1"/>
                </a:solidFill>
                <a:latin typeface="Calibri"/>
                <a:ea typeface="Calibri"/>
                <a:cs typeface="Calibri"/>
                <a:sym typeface="Calibri"/>
              </a:rPr>
              <a:t>DataMites™. All Rights Reserved</a:t>
            </a:r>
            <a:endParaRPr b="1" sz="1000">
              <a:solidFill>
                <a:schemeClr val="lt1"/>
              </a:solidFill>
              <a:latin typeface="Calibri"/>
              <a:ea typeface="Calibri"/>
              <a:cs typeface="Calibri"/>
              <a:sym typeface="Calibri"/>
            </a:endParaRPr>
          </a:p>
        </p:txBody>
      </p:sp>
      <p:pic>
        <p:nvPicPr>
          <p:cNvPr descr="Logo&#10;&#10;Description automatically generated with medium confidence" id="15" name="Google Shape;15;p18"/>
          <p:cNvPicPr preferRelativeResize="0"/>
          <p:nvPr/>
        </p:nvPicPr>
        <p:blipFill rotWithShape="1">
          <a:blip r:embed="rId1">
            <a:alphaModFix/>
          </a:blip>
          <a:srcRect b="0" l="0" r="0" t="0"/>
          <a:stretch/>
        </p:blipFill>
        <p:spPr>
          <a:xfrm>
            <a:off x="161225" y="4461024"/>
            <a:ext cx="1492200" cy="363125"/>
          </a:xfrm>
          <a:prstGeom prst="rect">
            <a:avLst/>
          </a:prstGeom>
          <a:noFill/>
          <a:ln>
            <a:noFill/>
          </a:ln>
        </p:spPr>
      </p:pic>
      <p:pic>
        <p:nvPicPr>
          <p:cNvPr descr="Logo&#10;&#10;Description automatically generated" id="16" name="Google Shape;16;p18"/>
          <p:cNvPicPr preferRelativeResize="0"/>
          <p:nvPr/>
        </p:nvPicPr>
        <p:blipFill rotWithShape="1">
          <a:blip r:embed="rId2">
            <a:alphaModFix/>
          </a:blip>
          <a:srcRect b="0" l="0" r="0" t="0"/>
          <a:stretch/>
        </p:blipFill>
        <p:spPr>
          <a:xfrm>
            <a:off x="7812461" y="4547049"/>
            <a:ext cx="1246906" cy="32259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title"/>
          </p:nvPr>
        </p:nvSpPr>
        <p:spPr>
          <a:xfrm>
            <a:off x="1143000" y="1993705"/>
            <a:ext cx="6477000" cy="12801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lang="en-US" cap="none"/>
              <a:t>Artificial Neural Network</a:t>
            </a:r>
            <a:endParaRPr b="0" cap="none">
              <a:latin typeface="Calibri"/>
              <a:ea typeface="Calibri"/>
              <a:cs typeface="Calibri"/>
              <a:sym typeface="Calibri"/>
            </a:endParaRPr>
          </a:p>
        </p:txBody>
      </p:sp>
      <p:sp>
        <p:nvSpPr>
          <p:cNvPr id="89" name="Google Shape;89;p1"/>
          <p:cNvSpPr txBox="1"/>
          <p:nvPr/>
        </p:nvSpPr>
        <p:spPr>
          <a:xfrm>
            <a:off x="1429225" y="2683225"/>
            <a:ext cx="6177600" cy="94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600">
                <a:solidFill>
                  <a:srgbClr val="666666"/>
                </a:solidFill>
                <a:latin typeface="Calibri"/>
                <a:ea typeface="Calibri"/>
                <a:cs typeface="Calibri"/>
                <a:sym typeface="Calibri"/>
              </a:rPr>
              <a:t>Supervised Machine Learning</a:t>
            </a:r>
            <a:endParaRPr sz="2600">
              <a:solidFill>
                <a:srgbClr val="666666"/>
              </a:solidFill>
              <a:latin typeface="Calibri"/>
              <a:ea typeface="Calibri"/>
              <a:cs typeface="Calibri"/>
              <a:sym typeface="Calibri"/>
            </a:endParaRPr>
          </a:p>
          <a:p>
            <a:pPr indent="0" lvl="0" marL="0" rtl="0" algn="ctr">
              <a:spcBef>
                <a:spcPts val="0"/>
              </a:spcBef>
              <a:spcAft>
                <a:spcPts val="0"/>
              </a:spcAft>
              <a:buClr>
                <a:srgbClr val="000000"/>
              </a:buClr>
              <a:buSzPts val="4000"/>
              <a:buFont typeface="Calibri"/>
              <a:buNone/>
            </a:pPr>
            <a:r>
              <a:rPr lang="en-US" sz="2600">
                <a:solidFill>
                  <a:srgbClr val="666666"/>
                </a:solidFill>
                <a:latin typeface="Calibri"/>
                <a:ea typeface="Calibri"/>
                <a:cs typeface="Calibri"/>
                <a:sym typeface="Calibri"/>
              </a:rPr>
              <a:t>Classification/Regression Algorithm</a:t>
            </a:r>
            <a:endParaRPr sz="2600">
              <a:solidFill>
                <a:srgbClr val="666666"/>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t>Course Topics</a:t>
            </a:r>
            <a:endParaRPr/>
          </a:p>
        </p:txBody>
      </p:sp>
      <p:sp>
        <p:nvSpPr>
          <p:cNvPr id="95" name="Google Shape;95;p2"/>
          <p:cNvSpPr txBox="1"/>
          <p:nvPr>
            <p:ph idx="1" type="body"/>
          </p:nvPr>
        </p:nvSpPr>
        <p:spPr>
          <a:xfrm>
            <a:off x="457200" y="1123950"/>
            <a:ext cx="8534400" cy="3394472"/>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400"/>
              <a:buFont typeface="Noto Sans Symbols"/>
              <a:buChar char="✔"/>
            </a:pPr>
            <a:r>
              <a:rPr lang="en-US" sz="2400"/>
              <a:t>What does ANN mean?</a:t>
            </a:r>
            <a:endParaRPr/>
          </a:p>
          <a:p>
            <a:pPr indent="-342900" lvl="0" marL="342900" rtl="0" algn="l">
              <a:lnSpc>
                <a:spcPct val="100000"/>
              </a:lnSpc>
              <a:spcBef>
                <a:spcPts val="480"/>
              </a:spcBef>
              <a:spcAft>
                <a:spcPts val="0"/>
              </a:spcAft>
              <a:buClr>
                <a:schemeClr val="dk1"/>
              </a:buClr>
              <a:buSzPts val="2400"/>
              <a:buFont typeface="Noto Sans Symbols"/>
              <a:buChar char="✔"/>
            </a:pPr>
            <a:r>
              <a:rPr lang="en-US" sz="2400"/>
              <a:t>How ANN works?</a:t>
            </a:r>
            <a:endParaRPr/>
          </a:p>
          <a:p>
            <a:pPr indent="-342900" lvl="0" marL="342900" rtl="0" algn="l">
              <a:lnSpc>
                <a:spcPct val="100000"/>
              </a:lnSpc>
              <a:spcBef>
                <a:spcPts val="480"/>
              </a:spcBef>
              <a:spcAft>
                <a:spcPts val="0"/>
              </a:spcAft>
              <a:buClr>
                <a:schemeClr val="dk1"/>
              </a:buClr>
              <a:buSzPts val="2400"/>
              <a:buFont typeface="Noto Sans Symbols"/>
              <a:buChar char="✔"/>
            </a:pPr>
            <a:r>
              <a:rPr lang="en-US" sz="2400"/>
              <a:t>Pros and Cons of ANN</a:t>
            </a:r>
            <a:endParaRPr/>
          </a:p>
          <a:p>
            <a:pPr indent="-342900" lvl="0" marL="342900" rtl="0" algn="l">
              <a:lnSpc>
                <a:spcPct val="100000"/>
              </a:lnSpc>
              <a:spcBef>
                <a:spcPts val="480"/>
              </a:spcBef>
              <a:spcAft>
                <a:spcPts val="0"/>
              </a:spcAft>
              <a:buClr>
                <a:schemeClr val="dk1"/>
              </a:buClr>
              <a:buSzPts val="2400"/>
              <a:buFont typeface="Noto Sans Symbols"/>
              <a:buChar char="✔"/>
            </a:pPr>
            <a:r>
              <a:rPr lang="en-US" sz="2400"/>
              <a:t>Applications of ANN</a:t>
            </a:r>
            <a:endParaRPr/>
          </a:p>
          <a:p>
            <a:pPr indent="-342900" lvl="0" marL="342900" rtl="0" algn="l">
              <a:lnSpc>
                <a:spcPct val="100000"/>
              </a:lnSpc>
              <a:spcBef>
                <a:spcPts val="480"/>
              </a:spcBef>
              <a:spcAft>
                <a:spcPts val="0"/>
              </a:spcAft>
              <a:buClr>
                <a:schemeClr val="dk1"/>
              </a:buClr>
              <a:buSzPts val="2400"/>
              <a:buFont typeface="Noto Sans Symbols"/>
              <a:buChar char="✔"/>
            </a:pPr>
            <a:r>
              <a:rPr lang="en-US" sz="2400"/>
              <a:t>Modeling ANN with Python</a:t>
            </a:r>
            <a:endParaRPr/>
          </a:p>
          <a:p>
            <a:pPr indent="-190500" lvl="0" marL="342900" rtl="0" algn="l">
              <a:lnSpc>
                <a:spcPct val="100000"/>
              </a:lnSpc>
              <a:spcBef>
                <a:spcPts val="480"/>
              </a:spcBef>
              <a:spcAft>
                <a:spcPts val="0"/>
              </a:spcAft>
              <a:buClr>
                <a:schemeClr val="dk1"/>
              </a:buClr>
              <a:buSzPts val="2400"/>
              <a:buFont typeface="Noto Sans Symbols"/>
              <a:buNone/>
            </a:pPr>
            <a:r>
              <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t>What is ANN?</a:t>
            </a:r>
            <a:endParaRPr/>
          </a:p>
        </p:txBody>
      </p:sp>
      <p:sp>
        <p:nvSpPr>
          <p:cNvPr id="101" name="Google Shape;101;p3"/>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323850" lvl="0" marL="342900" rtl="0" algn="l">
              <a:lnSpc>
                <a:spcPct val="100000"/>
              </a:lnSpc>
              <a:spcBef>
                <a:spcPts val="0"/>
              </a:spcBef>
              <a:spcAft>
                <a:spcPts val="0"/>
              </a:spcAft>
              <a:buClr>
                <a:schemeClr val="dk1"/>
              </a:buClr>
              <a:buSzPts val="2900"/>
              <a:buChar char="•"/>
            </a:pPr>
            <a:r>
              <a:rPr lang="en-US" sz="2900"/>
              <a:t>Artificial Neural Networks are the biologically inspired simulations performed on the computer to perform certain specific tasks like clustering, classification, pattern recognition etc.</a:t>
            </a:r>
            <a:endParaRPr sz="2900"/>
          </a:p>
        </p:txBody>
      </p:sp>
      <p:sp>
        <p:nvSpPr>
          <p:cNvPr id="102" name="Google Shape;102;p3"/>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4"/>
          <p:cNvSpPr txBox="1"/>
          <p:nvPr>
            <p:ph type="title"/>
          </p:nvPr>
        </p:nvSpPr>
        <p:spPr>
          <a:xfrm>
            <a:off x="457200" y="133350"/>
            <a:ext cx="55626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t>How ANN Works? - ANN Layers</a:t>
            </a:r>
            <a:endParaRPr/>
          </a:p>
        </p:txBody>
      </p:sp>
      <p:sp>
        <p:nvSpPr>
          <p:cNvPr id="108" name="Google Shape;108;p4"/>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2000"/>
              <a:buChar char="•"/>
            </a:pPr>
            <a:r>
              <a:rPr b="1" lang="en-US" sz="2000"/>
              <a:t>Input layer</a:t>
            </a:r>
            <a:r>
              <a:rPr lang="en-US" sz="2000"/>
              <a:t> — It contains those units (artificial neurons) which receive input from the outside world on which network will learn, recognize about or otherwise process.</a:t>
            </a:r>
            <a:endParaRPr/>
          </a:p>
          <a:p>
            <a:pPr indent="-342900" lvl="0" marL="342900" rtl="0" algn="l">
              <a:lnSpc>
                <a:spcPct val="80000"/>
              </a:lnSpc>
              <a:spcBef>
                <a:spcPts val="400"/>
              </a:spcBef>
              <a:spcAft>
                <a:spcPts val="0"/>
              </a:spcAft>
              <a:buClr>
                <a:schemeClr val="dk1"/>
              </a:buClr>
              <a:buSzPts val="2000"/>
              <a:buChar char="•"/>
            </a:pPr>
            <a:r>
              <a:rPr b="1" lang="en-US" sz="2000"/>
              <a:t>Output layer</a:t>
            </a:r>
            <a:r>
              <a:rPr lang="en-US" sz="2000"/>
              <a:t> — It contains units that respond to the information about how it’s learned any task.</a:t>
            </a:r>
            <a:endParaRPr/>
          </a:p>
          <a:p>
            <a:pPr indent="-342900" lvl="0" marL="342900" rtl="0" algn="l">
              <a:lnSpc>
                <a:spcPct val="80000"/>
              </a:lnSpc>
              <a:spcBef>
                <a:spcPts val="400"/>
              </a:spcBef>
              <a:spcAft>
                <a:spcPts val="0"/>
              </a:spcAft>
              <a:buClr>
                <a:schemeClr val="dk1"/>
              </a:buClr>
              <a:buSzPts val="2000"/>
              <a:buChar char="•"/>
            </a:pPr>
            <a:r>
              <a:rPr b="1" lang="en-US" sz="2000"/>
              <a:t>Hidden layer</a:t>
            </a:r>
            <a:r>
              <a:rPr lang="en-US" sz="2000"/>
              <a:t> — These units are in between input and output layers. The job of hidden layer is to transform the input into something that output unit can use in some way.</a:t>
            </a:r>
            <a:endParaRPr/>
          </a:p>
          <a:p>
            <a:pPr indent="0" lvl="0" marL="0" rtl="0" algn="l">
              <a:lnSpc>
                <a:spcPct val="80000"/>
              </a:lnSpc>
              <a:spcBef>
                <a:spcPts val="400"/>
              </a:spcBef>
              <a:spcAft>
                <a:spcPts val="0"/>
              </a:spcAft>
              <a:buClr>
                <a:schemeClr val="dk1"/>
              </a:buClr>
              <a:buSzPts val="2000"/>
              <a:buNone/>
            </a:pPr>
            <a:r>
              <a:t/>
            </a:r>
            <a:endParaRPr sz="2000"/>
          </a:p>
          <a:p>
            <a:pPr indent="0" lvl="0" marL="0" rtl="0" algn="l">
              <a:lnSpc>
                <a:spcPct val="80000"/>
              </a:lnSpc>
              <a:spcBef>
                <a:spcPts val="400"/>
              </a:spcBef>
              <a:spcAft>
                <a:spcPts val="0"/>
              </a:spcAft>
              <a:buClr>
                <a:schemeClr val="dk1"/>
              </a:buClr>
              <a:buSzPts val="2000"/>
              <a:buNone/>
            </a:pPr>
            <a:r>
              <a:rPr lang="en-US" sz="2000"/>
              <a:t>Most neural networks are fully connected that means to say each hidden neuron is fully connected to the every neuron in its previous layer(input) and to the next layer (output) layer.</a:t>
            </a:r>
            <a:endParaRPr/>
          </a:p>
          <a:p>
            <a:pPr indent="-215900" lvl="0" marL="342900" rtl="0" algn="l">
              <a:lnSpc>
                <a:spcPct val="80000"/>
              </a:lnSpc>
              <a:spcBef>
                <a:spcPts val="400"/>
              </a:spcBef>
              <a:spcAft>
                <a:spcPts val="0"/>
              </a:spcAft>
              <a:buClr>
                <a:schemeClr val="dk1"/>
              </a:buClr>
              <a:buSzPts val="2000"/>
              <a:buNone/>
            </a:pPr>
            <a:r>
              <a:t/>
            </a:r>
            <a:endParaRPr b="1" sz="2000"/>
          </a:p>
        </p:txBody>
      </p:sp>
      <p:sp>
        <p:nvSpPr>
          <p:cNvPr id="109" name="Google Shape;109;p4"/>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5"/>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t>How ANN Works?</a:t>
            </a:r>
            <a:endParaRPr/>
          </a:p>
        </p:txBody>
      </p:sp>
      <p:sp>
        <p:nvSpPr>
          <p:cNvPr id="115" name="Google Shape;115;p5"/>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116" name="Google Shape;116;p5"/>
          <p:cNvSpPr txBox="1"/>
          <p:nvPr/>
        </p:nvSpPr>
        <p:spPr>
          <a:xfrm>
            <a:off x="1600200" y="1173718"/>
            <a:ext cx="41870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10</a:t>
            </a:r>
            <a:endParaRPr b="0" i="0" sz="1400" u="none" cap="none" strike="noStrike">
              <a:solidFill>
                <a:srgbClr val="000000"/>
              </a:solidFill>
              <a:latin typeface="Arial"/>
              <a:ea typeface="Arial"/>
              <a:cs typeface="Arial"/>
              <a:sym typeface="Arial"/>
            </a:endParaRPr>
          </a:p>
        </p:txBody>
      </p:sp>
      <p:sp>
        <p:nvSpPr>
          <p:cNvPr id="117" name="Google Shape;117;p5"/>
          <p:cNvSpPr/>
          <p:nvPr/>
        </p:nvSpPr>
        <p:spPr>
          <a:xfrm>
            <a:off x="2667000" y="1123950"/>
            <a:ext cx="1100138" cy="8382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18" name="Google Shape;118;p5"/>
          <p:cNvSpPr txBox="1"/>
          <p:nvPr/>
        </p:nvSpPr>
        <p:spPr>
          <a:xfrm>
            <a:off x="1600200" y="1657350"/>
            <a:ext cx="30168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5</a:t>
            </a:r>
            <a:endParaRPr b="0" i="0" sz="1400" u="none" cap="none" strike="noStrike">
              <a:solidFill>
                <a:srgbClr val="000000"/>
              </a:solidFill>
              <a:latin typeface="Arial"/>
              <a:ea typeface="Arial"/>
              <a:cs typeface="Arial"/>
              <a:sym typeface="Arial"/>
            </a:endParaRPr>
          </a:p>
        </p:txBody>
      </p:sp>
      <p:sp>
        <p:nvSpPr>
          <p:cNvPr id="119" name="Google Shape;119;p5"/>
          <p:cNvSpPr txBox="1"/>
          <p:nvPr/>
        </p:nvSpPr>
        <p:spPr>
          <a:xfrm>
            <a:off x="4419600" y="1173718"/>
            <a:ext cx="41870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25</a:t>
            </a:r>
            <a:endParaRPr b="0" i="0" sz="1400" u="none" cap="none" strike="noStrike">
              <a:solidFill>
                <a:srgbClr val="000000"/>
              </a:solidFill>
              <a:latin typeface="Arial"/>
              <a:ea typeface="Arial"/>
              <a:cs typeface="Arial"/>
              <a:sym typeface="Arial"/>
            </a:endParaRPr>
          </a:p>
        </p:txBody>
      </p:sp>
      <p:sp>
        <p:nvSpPr>
          <p:cNvPr id="120" name="Google Shape;120;p5"/>
          <p:cNvSpPr txBox="1"/>
          <p:nvPr/>
        </p:nvSpPr>
        <p:spPr>
          <a:xfrm>
            <a:off x="4419600" y="1657350"/>
            <a:ext cx="41870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15</a:t>
            </a:r>
            <a:endParaRPr b="0" i="0" sz="1400" u="none" cap="none" strike="noStrike">
              <a:solidFill>
                <a:srgbClr val="000000"/>
              </a:solidFill>
              <a:latin typeface="Arial"/>
              <a:ea typeface="Arial"/>
              <a:cs typeface="Arial"/>
              <a:sym typeface="Arial"/>
            </a:endParaRPr>
          </a:p>
        </p:txBody>
      </p:sp>
      <p:cxnSp>
        <p:nvCxnSpPr>
          <p:cNvPr id="121" name="Google Shape;121;p5"/>
          <p:cNvCxnSpPr>
            <a:stCxn id="116" idx="3"/>
          </p:cNvCxnSpPr>
          <p:nvPr/>
        </p:nvCxnSpPr>
        <p:spPr>
          <a:xfrm>
            <a:off x="2018904" y="1358384"/>
            <a:ext cx="648000" cy="0"/>
          </a:xfrm>
          <a:prstGeom prst="straightConnector1">
            <a:avLst/>
          </a:prstGeom>
          <a:noFill/>
          <a:ln cap="flat" cmpd="sng" w="9525">
            <a:solidFill>
              <a:srgbClr val="4A7DBA"/>
            </a:solidFill>
            <a:prstDash val="solid"/>
            <a:round/>
            <a:headEnd len="sm" w="sm" type="none"/>
            <a:tailEnd len="med" w="med" type="triangle"/>
          </a:ln>
        </p:spPr>
      </p:cxnSp>
      <p:cxnSp>
        <p:nvCxnSpPr>
          <p:cNvPr id="122" name="Google Shape;122;p5"/>
          <p:cNvCxnSpPr/>
          <p:nvPr/>
        </p:nvCxnSpPr>
        <p:spPr>
          <a:xfrm>
            <a:off x="2018904" y="1838960"/>
            <a:ext cx="648096" cy="0"/>
          </a:xfrm>
          <a:prstGeom prst="straightConnector1">
            <a:avLst/>
          </a:prstGeom>
          <a:noFill/>
          <a:ln cap="flat" cmpd="sng" w="9525">
            <a:solidFill>
              <a:srgbClr val="4A7DBA"/>
            </a:solidFill>
            <a:prstDash val="solid"/>
            <a:round/>
            <a:headEnd len="sm" w="sm" type="none"/>
            <a:tailEnd len="med" w="med" type="triangle"/>
          </a:ln>
        </p:spPr>
      </p:cxnSp>
      <p:cxnSp>
        <p:nvCxnSpPr>
          <p:cNvPr id="123" name="Google Shape;123;p5"/>
          <p:cNvCxnSpPr/>
          <p:nvPr/>
        </p:nvCxnSpPr>
        <p:spPr>
          <a:xfrm>
            <a:off x="3767138" y="1842016"/>
            <a:ext cx="648096" cy="0"/>
          </a:xfrm>
          <a:prstGeom prst="straightConnector1">
            <a:avLst/>
          </a:prstGeom>
          <a:noFill/>
          <a:ln cap="flat" cmpd="sng" w="9525">
            <a:solidFill>
              <a:srgbClr val="4A7DBA"/>
            </a:solidFill>
            <a:prstDash val="solid"/>
            <a:round/>
            <a:headEnd len="sm" w="sm" type="none"/>
            <a:tailEnd len="med" w="med" type="triangle"/>
          </a:ln>
        </p:spPr>
      </p:cxnSp>
      <p:cxnSp>
        <p:nvCxnSpPr>
          <p:cNvPr id="124" name="Google Shape;124;p5"/>
          <p:cNvCxnSpPr/>
          <p:nvPr/>
        </p:nvCxnSpPr>
        <p:spPr>
          <a:xfrm>
            <a:off x="3767138" y="1358384"/>
            <a:ext cx="648096" cy="0"/>
          </a:xfrm>
          <a:prstGeom prst="straightConnector1">
            <a:avLst/>
          </a:prstGeom>
          <a:noFill/>
          <a:ln cap="flat" cmpd="sng" w="9525">
            <a:solidFill>
              <a:srgbClr val="4A7DBA"/>
            </a:solidFill>
            <a:prstDash val="solid"/>
            <a:round/>
            <a:headEnd len="sm" w="sm" type="none"/>
            <a:tailEnd len="med" w="med" type="triangle"/>
          </a:ln>
        </p:spPr>
      </p:cxnSp>
      <p:sp>
        <p:nvSpPr>
          <p:cNvPr id="125" name="Google Shape;125;p5"/>
          <p:cNvSpPr txBox="1"/>
          <p:nvPr/>
        </p:nvSpPr>
        <p:spPr>
          <a:xfrm>
            <a:off x="2718034" y="2038350"/>
            <a:ext cx="109196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aX + b = Y</a:t>
            </a:r>
            <a:endParaRPr b="0" i="0" sz="1400" u="none" cap="none" strike="noStrike">
              <a:solidFill>
                <a:srgbClr val="000000"/>
              </a:solidFill>
              <a:latin typeface="Arial"/>
              <a:ea typeface="Arial"/>
              <a:cs typeface="Arial"/>
              <a:sym typeface="Arial"/>
            </a:endParaRPr>
          </a:p>
        </p:txBody>
      </p:sp>
      <p:sp>
        <p:nvSpPr>
          <p:cNvPr id="126" name="Google Shape;126;p5"/>
          <p:cNvSpPr txBox="1"/>
          <p:nvPr/>
        </p:nvSpPr>
        <p:spPr>
          <a:xfrm>
            <a:off x="1595834" y="807064"/>
            <a:ext cx="30489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X</a:t>
            </a:r>
            <a:endParaRPr b="0" i="0" sz="1400" u="none" cap="none" strike="noStrike">
              <a:solidFill>
                <a:srgbClr val="000000"/>
              </a:solidFill>
              <a:latin typeface="Arial"/>
              <a:ea typeface="Arial"/>
              <a:cs typeface="Arial"/>
              <a:sym typeface="Arial"/>
            </a:endParaRPr>
          </a:p>
        </p:txBody>
      </p:sp>
      <p:sp>
        <p:nvSpPr>
          <p:cNvPr id="127" name="Google Shape;127;p5"/>
          <p:cNvSpPr txBox="1"/>
          <p:nvPr/>
        </p:nvSpPr>
        <p:spPr>
          <a:xfrm>
            <a:off x="4415234" y="754618"/>
            <a:ext cx="29687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Y</a:t>
            </a:r>
            <a:endParaRPr b="0" i="0" sz="1400" u="none" cap="none" strike="noStrike">
              <a:solidFill>
                <a:srgbClr val="000000"/>
              </a:solidFill>
              <a:latin typeface="Arial"/>
              <a:ea typeface="Arial"/>
              <a:cs typeface="Arial"/>
              <a:sym typeface="Arial"/>
            </a:endParaRPr>
          </a:p>
        </p:txBody>
      </p:sp>
      <p:sp>
        <p:nvSpPr>
          <p:cNvPr id="128" name="Google Shape;128;p5"/>
          <p:cNvSpPr txBox="1"/>
          <p:nvPr/>
        </p:nvSpPr>
        <p:spPr>
          <a:xfrm>
            <a:off x="377038" y="2958771"/>
            <a:ext cx="190500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a=1, b=1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1*10+1 = 11 (error :14)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1*5+1 = 6 (error :9)</a:t>
            </a:r>
            <a:endParaRPr b="0" i="0" sz="1400" u="none" cap="none" strike="noStrike">
              <a:solidFill>
                <a:srgbClr val="000000"/>
              </a:solidFill>
              <a:latin typeface="Arial"/>
              <a:ea typeface="Arial"/>
              <a:cs typeface="Arial"/>
              <a:sym typeface="Arial"/>
            </a:endParaRPr>
          </a:p>
        </p:txBody>
      </p:sp>
      <p:sp>
        <p:nvSpPr>
          <p:cNvPr id="129" name="Google Shape;129;p5"/>
          <p:cNvSpPr txBox="1"/>
          <p:nvPr/>
        </p:nvSpPr>
        <p:spPr>
          <a:xfrm>
            <a:off x="2553818" y="2970340"/>
            <a:ext cx="190500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a=2, b=2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2*10+2 = 22 (error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2*5+2 = 12 (error :3)</a:t>
            </a:r>
            <a:endParaRPr b="0" i="0" sz="1400" u="none" cap="none" strike="noStrike">
              <a:solidFill>
                <a:srgbClr val="000000"/>
              </a:solidFill>
              <a:latin typeface="Arial"/>
              <a:ea typeface="Arial"/>
              <a:cs typeface="Arial"/>
              <a:sym typeface="Arial"/>
            </a:endParaRPr>
          </a:p>
        </p:txBody>
      </p:sp>
      <p:sp>
        <p:nvSpPr>
          <p:cNvPr id="130" name="Google Shape;130;p5"/>
          <p:cNvSpPr txBox="1"/>
          <p:nvPr/>
        </p:nvSpPr>
        <p:spPr>
          <a:xfrm>
            <a:off x="4563672" y="2958771"/>
            <a:ext cx="190500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a=3, b=3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3*10+3 = 33 (error : -8)</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3*5+3 = 18 (error :-3)</a:t>
            </a:r>
            <a:endParaRPr b="0" i="0" sz="1400" u="none" cap="none" strike="noStrike">
              <a:solidFill>
                <a:srgbClr val="000000"/>
              </a:solidFill>
              <a:latin typeface="Arial"/>
              <a:ea typeface="Arial"/>
              <a:cs typeface="Arial"/>
              <a:sym typeface="Arial"/>
            </a:endParaRPr>
          </a:p>
        </p:txBody>
      </p:sp>
      <p:sp>
        <p:nvSpPr>
          <p:cNvPr id="131" name="Google Shape;131;p5"/>
          <p:cNvSpPr txBox="1"/>
          <p:nvPr/>
        </p:nvSpPr>
        <p:spPr>
          <a:xfrm>
            <a:off x="6905962" y="2971610"/>
            <a:ext cx="190500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a=2, b=5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2*10+5 = 25 (error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2*5+5 = 15 (error :0)</a:t>
            </a:r>
            <a:endParaRPr b="0" i="0" sz="1400" u="none" cap="none" strike="noStrike">
              <a:solidFill>
                <a:srgbClr val="000000"/>
              </a:solidFill>
              <a:latin typeface="Arial"/>
              <a:ea typeface="Arial"/>
              <a:cs typeface="Arial"/>
              <a:sym typeface="Arial"/>
            </a:endParaRPr>
          </a:p>
        </p:txBody>
      </p:sp>
      <p:sp>
        <p:nvSpPr>
          <p:cNvPr id="132" name="Google Shape;132;p5"/>
          <p:cNvSpPr txBox="1"/>
          <p:nvPr/>
        </p:nvSpPr>
        <p:spPr>
          <a:xfrm>
            <a:off x="2438400" y="2440511"/>
            <a:ext cx="2934458" cy="369332"/>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a 🡪 weight (w) , b 🡪 Bias (b)</a:t>
            </a:r>
            <a:endParaRPr b="0" i="0" sz="1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500"/>
                                        <p:tgtEl>
                                          <p:spTgt spid="1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500"/>
                                        <p:tgtEl>
                                          <p:spTgt spid="1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gtEl>
                                        <p:attrNameLst>
                                          <p:attrName>style.visibility</p:attrName>
                                        </p:attrNameLst>
                                      </p:cBhvr>
                                      <p:to>
                                        <p:strVal val="visible"/>
                                      </p:to>
                                    </p:set>
                                    <p:animEffect filter="fade" transition="in">
                                      <p:cBhvr>
                                        <p:cTn dur="500"/>
                                        <p:tgtEl>
                                          <p:spTgt spid="1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gtEl>
                                        <p:attrNameLst>
                                          <p:attrName>style.visibility</p:attrName>
                                        </p:attrNameLst>
                                      </p:cBhvr>
                                      <p:to>
                                        <p:strVal val="visible"/>
                                      </p:to>
                                    </p:set>
                                    <p:animEffect filter="fade" transition="in">
                                      <p:cBhvr>
                                        <p:cTn dur="500"/>
                                        <p:tgtEl>
                                          <p:spTgt spid="1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6"/>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t>How ANN works?</a:t>
            </a:r>
            <a:endParaRPr/>
          </a:p>
        </p:txBody>
      </p:sp>
      <p:sp>
        <p:nvSpPr>
          <p:cNvPr id="138" name="Google Shape;138;p6"/>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139" name="Google Shape;139;p6"/>
          <p:cNvSpPr/>
          <p:nvPr/>
        </p:nvSpPr>
        <p:spPr>
          <a:xfrm>
            <a:off x="1112954" y="1608202"/>
            <a:ext cx="358917" cy="364171"/>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alibri"/>
              <a:ea typeface="Calibri"/>
              <a:cs typeface="Calibri"/>
              <a:sym typeface="Calibri"/>
            </a:endParaRPr>
          </a:p>
        </p:txBody>
      </p:sp>
      <p:sp>
        <p:nvSpPr>
          <p:cNvPr id="140" name="Google Shape;140;p6"/>
          <p:cNvSpPr/>
          <p:nvPr/>
        </p:nvSpPr>
        <p:spPr>
          <a:xfrm>
            <a:off x="1112954" y="2334411"/>
            <a:ext cx="358917" cy="364171"/>
          </a:xfrm>
          <a:prstGeom prst="ellipse">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alibri"/>
              <a:ea typeface="Calibri"/>
              <a:cs typeface="Calibri"/>
              <a:sym typeface="Calibri"/>
            </a:endParaRPr>
          </a:p>
        </p:txBody>
      </p:sp>
      <p:sp>
        <p:nvSpPr>
          <p:cNvPr id="141" name="Google Shape;141;p6"/>
          <p:cNvSpPr/>
          <p:nvPr/>
        </p:nvSpPr>
        <p:spPr>
          <a:xfrm>
            <a:off x="2342864" y="1145949"/>
            <a:ext cx="358917" cy="364171"/>
          </a:xfrm>
          <a:prstGeom prst="ellipse">
            <a:avLst/>
          </a:prstGeom>
          <a:solidFill>
            <a:srgbClr val="7F7F7F"/>
          </a:solidFill>
          <a:ln cap="flat" cmpd="sng" w="25400">
            <a:solidFill>
              <a:srgbClr val="3F3F3F"/>
            </a:solidFill>
            <a:prstDash val="solid"/>
            <a:round/>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Calibri"/>
                <a:ea typeface="Calibri"/>
                <a:cs typeface="Calibri"/>
                <a:sym typeface="Calibri"/>
              </a:rPr>
              <a:t>B1</a:t>
            </a:r>
            <a:endParaRPr b="0" i="0" sz="1400" u="none" cap="none" strike="noStrike">
              <a:solidFill>
                <a:srgbClr val="000000"/>
              </a:solidFill>
              <a:latin typeface="Arial"/>
              <a:ea typeface="Arial"/>
              <a:cs typeface="Arial"/>
              <a:sym typeface="Arial"/>
            </a:endParaRPr>
          </a:p>
        </p:txBody>
      </p:sp>
      <p:sp>
        <p:nvSpPr>
          <p:cNvPr id="142" name="Google Shape;142;p6"/>
          <p:cNvSpPr/>
          <p:nvPr/>
        </p:nvSpPr>
        <p:spPr>
          <a:xfrm>
            <a:off x="2362356" y="1930015"/>
            <a:ext cx="358917" cy="364171"/>
          </a:xfrm>
          <a:prstGeom prst="ellipse">
            <a:avLst/>
          </a:prstGeom>
          <a:solidFill>
            <a:srgbClr val="7F7F7F"/>
          </a:solidFill>
          <a:ln cap="flat" cmpd="sng" w="25400">
            <a:solidFill>
              <a:srgbClr val="3F3F3F"/>
            </a:solidFill>
            <a:prstDash val="solid"/>
            <a:round/>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Calibri"/>
                <a:ea typeface="Calibri"/>
                <a:cs typeface="Calibri"/>
                <a:sym typeface="Calibri"/>
              </a:rPr>
              <a:t>B2</a:t>
            </a:r>
            <a:endParaRPr b="0" i="0" sz="1400" u="none" cap="none" strike="noStrike">
              <a:solidFill>
                <a:srgbClr val="000000"/>
              </a:solidFill>
              <a:latin typeface="Arial"/>
              <a:ea typeface="Arial"/>
              <a:cs typeface="Arial"/>
              <a:sym typeface="Arial"/>
            </a:endParaRPr>
          </a:p>
        </p:txBody>
      </p:sp>
      <p:sp>
        <p:nvSpPr>
          <p:cNvPr id="143" name="Google Shape;143;p6"/>
          <p:cNvSpPr/>
          <p:nvPr/>
        </p:nvSpPr>
        <p:spPr>
          <a:xfrm>
            <a:off x="2302641" y="2731571"/>
            <a:ext cx="358917" cy="364171"/>
          </a:xfrm>
          <a:prstGeom prst="ellipse">
            <a:avLst/>
          </a:prstGeom>
          <a:solidFill>
            <a:srgbClr val="7F7F7F"/>
          </a:solidFill>
          <a:ln cap="flat" cmpd="sng" w="25400">
            <a:solidFill>
              <a:srgbClr val="3F3F3F"/>
            </a:solidFill>
            <a:prstDash val="solid"/>
            <a:round/>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Calibri"/>
                <a:ea typeface="Calibri"/>
                <a:cs typeface="Calibri"/>
                <a:sym typeface="Calibri"/>
              </a:rPr>
              <a:t>B3</a:t>
            </a:r>
            <a:endParaRPr b="0" i="0" sz="1400" u="none" cap="none" strike="noStrike">
              <a:solidFill>
                <a:srgbClr val="000000"/>
              </a:solidFill>
              <a:latin typeface="Arial"/>
              <a:ea typeface="Arial"/>
              <a:cs typeface="Arial"/>
              <a:sym typeface="Arial"/>
            </a:endParaRPr>
          </a:p>
        </p:txBody>
      </p:sp>
      <p:sp>
        <p:nvSpPr>
          <p:cNvPr id="144" name="Google Shape;144;p6"/>
          <p:cNvSpPr/>
          <p:nvPr/>
        </p:nvSpPr>
        <p:spPr>
          <a:xfrm>
            <a:off x="3643940" y="1930015"/>
            <a:ext cx="358917" cy="364171"/>
          </a:xfrm>
          <a:prstGeom prst="ellipse">
            <a:avLst/>
          </a:prstGeom>
          <a:solidFill>
            <a:schemeClr val="accent6"/>
          </a:solidFill>
          <a:ln cap="flat" cmpd="sng" w="25400">
            <a:solidFill>
              <a:srgbClr val="B46D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Calibri"/>
                <a:ea typeface="Calibri"/>
                <a:cs typeface="Calibri"/>
                <a:sym typeface="Calibri"/>
              </a:rPr>
              <a:t>Y</a:t>
            </a:r>
            <a:endParaRPr b="0" i="0" sz="1400" u="none" cap="none" strike="noStrike">
              <a:solidFill>
                <a:srgbClr val="000000"/>
              </a:solidFill>
              <a:latin typeface="Arial"/>
              <a:ea typeface="Arial"/>
              <a:cs typeface="Arial"/>
              <a:sym typeface="Arial"/>
            </a:endParaRPr>
          </a:p>
        </p:txBody>
      </p:sp>
      <p:cxnSp>
        <p:nvCxnSpPr>
          <p:cNvPr id="145" name="Google Shape;145;p6"/>
          <p:cNvCxnSpPr>
            <a:stCxn id="139" idx="6"/>
            <a:endCxn id="141" idx="2"/>
          </p:cNvCxnSpPr>
          <p:nvPr/>
        </p:nvCxnSpPr>
        <p:spPr>
          <a:xfrm flipH="1" rot="10800000">
            <a:off x="1471871" y="1327988"/>
            <a:ext cx="870900" cy="462300"/>
          </a:xfrm>
          <a:prstGeom prst="straightConnector1">
            <a:avLst/>
          </a:prstGeom>
          <a:noFill/>
          <a:ln cap="flat" cmpd="sng" w="38100">
            <a:solidFill>
              <a:srgbClr val="262626"/>
            </a:solidFill>
            <a:prstDash val="solid"/>
            <a:round/>
            <a:headEnd len="sm" w="sm" type="none"/>
            <a:tailEnd len="med" w="med" type="triangle"/>
          </a:ln>
        </p:spPr>
      </p:cxnSp>
      <p:cxnSp>
        <p:nvCxnSpPr>
          <p:cNvPr id="146" name="Google Shape;146;p6"/>
          <p:cNvCxnSpPr>
            <a:stCxn id="139" idx="6"/>
            <a:endCxn id="142" idx="2"/>
          </p:cNvCxnSpPr>
          <p:nvPr/>
        </p:nvCxnSpPr>
        <p:spPr>
          <a:xfrm>
            <a:off x="1471871" y="1790288"/>
            <a:ext cx="890400" cy="321900"/>
          </a:xfrm>
          <a:prstGeom prst="straightConnector1">
            <a:avLst/>
          </a:prstGeom>
          <a:noFill/>
          <a:ln cap="flat" cmpd="sng" w="38100">
            <a:solidFill>
              <a:srgbClr val="262626"/>
            </a:solidFill>
            <a:prstDash val="solid"/>
            <a:round/>
            <a:headEnd len="sm" w="sm" type="none"/>
            <a:tailEnd len="med" w="med" type="triangle"/>
          </a:ln>
        </p:spPr>
      </p:cxnSp>
      <p:cxnSp>
        <p:nvCxnSpPr>
          <p:cNvPr id="147" name="Google Shape;147;p6"/>
          <p:cNvCxnSpPr>
            <a:stCxn id="139" idx="6"/>
            <a:endCxn id="143" idx="2"/>
          </p:cNvCxnSpPr>
          <p:nvPr/>
        </p:nvCxnSpPr>
        <p:spPr>
          <a:xfrm>
            <a:off x="1471871" y="1790288"/>
            <a:ext cx="830700" cy="1123500"/>
          </a:xfrm>
          <a:prstGeom prst="straightConnector1">
            <a:avLst/>
          </a:prstGeom>
          <a:noFill/>
          <a:ln cap="flat" cmpd="sng" w="38100">
            <a:solidFill>
              <a:srgbClr val="262626"/>
            </a:solidFill>
            <a:prstDash val="solid"/>
            <a:round/>
            <a:headEnd len="sm" w="sm" type="none"/>
            <a:tailEnd len="med" w="med" type="triangle"/>
          </a:ln>
        </p:spPr>
      </p:cxnSp>
      <p:cxnSp>
        <p:nvCxnSpPr>
          <p:cNvPr id="148" name="Google Shape;148;p6"/>
          <p:cNvCxnSpPr>
            <a:stCxn id="140" idx="6"/>
            <a:endCxn id="141" idx="2"/>
          </p:cNvCxnSpPr>
          <p:nvPr/>
        </p:nvCxnSpPr>
        <p:spPr>
          <a:xfrm flipH="1" rot="10800000">
            <a:off x="1471871" y="1327897"/>
            <a:ext cx="870900" cy="1188600"/>
          </a:xfrm>
          <a:prstGeom prst="straightConnector1">
            <a:avLst/>
          </a:prstGeom>
          <a:noFill/>
          <a:ln cap="flat" cmpd="sng" w="38100">
            <a:solidFill>
              <a:srgbClr val="76923C"/>
            </a:solidFill>
            <a:prstDash val="solid"/>
            <a:round/>
            <a:headEnd len="sm" w="sm" type="none"/>
            <a:tailEnd len="med" w="med" type="triangle"/>
          </a:ln>
        </p:spPr>
      </p:cxnSp>
      <p:cxnSp>
        <p:nvCxnSpPr>
          <p:cNvPr id="149" name="Google Shape;149;p6"/>
          <p:cNvCxnSpPr>
            <a:stCxn id="140" idx="6"/>
            <a:endCxn id="142" idx="2"/>
          </p:cNvCxnSpPr>
          <p:nvPr/>
        </p:nvCxnSpPr>
        <p:spPr>
          <a:xfrm flipH="1" rot="10800000">
            <a:off x="1471871" y="2112097"/>
            <a:ext cx="890400" cy="404400"/>
          </a:xfrm>
          <a:prstGeom prst="straightConnector1">
            <a:avLst/>
          </a:prstGeom>
          <a:noFill/>
          <a:ln cap="flat" cmpd="sng" w="38100">
            <a:solidFill>
              <a:srgbClr val="76923C"/>
            </a:solidFill>
            <a:prstDash val="solid"/>
            <a:round/>
            <a:headEnd len="sm" w="sm" type="none"/>
            <a:tailEnd len="med" w="med" type="triangle"/>
          </a:ln>
        </p:spPr>
      </p:cxnSp>
      <p:cxnSp>
        <p:nvCxnSpPr>
          <p:cNvPr id="150" name="Google Shape;150;p6"/>
          <p:cNvCxnSpPr>
            <a:stCxn id="140" idx="6"/>
            <a:endCxn id="143" idx="2"/>
          </p:cNvCxnSpPr>
          <p:nvPr/>
        </p:nvCxnSpPr>
        <p:spPr>
          <a:xfrm>
            <a:off x="1471871" y="2516497"/>
            <a:ext cx="830700" cy="397200"/>
          </a:xfrm>
          <a:prstGeom prst="straightConnector1">
            <a:avLst/>
          </a:prstGeom>
          <a:noFill/>
          <a:ln cap="flat" cmpd="sng" w="38100">
            <a:solidFill>
              <a:srgbClr val="76923C"/>
            </a:solidFill>
            <a:prstDash val="solid"/>
            <a:round/>
            <a:headEnd len="sm" w="sm" type="none"/>
            <a:tailEnd len="med" w="med" type="triangle"/>
          </a:ln>
        </p:spPr>
      </p:cxnSp>
      <p:cxnSp>
        <p:nvCxnSpPr>
          <p:cNvPr id="151" name="Google Shape;151;p6"/>
          <p:cNvCxnSpPr>
            <a:stCxn id="141" idx="6"/>
            <a:endCxn id="144" idx="1"/>
          </p:cNvCxnSpPr>
          <p:nvPr/>
        </p:nvCxnSpPr>
        <p:spPr>
          <a:xfrm>
            <a:off x="2701781" y="1328035"/>
            <a:ext cx="994800" cy="655200"/>
          </a:xfrm>
          <a:prstGeom prst="straightConnector1">
            <a:avLst/>
          </a:prstGeom>
          <a:noFill/>
          <a:ln cap="flat" cmpd="sng" w="38100">
            <a:solidFill>
              <a:srgbClr val="262626"/>
            </a:solidFill>
            <a:prstDash val="solid"/>
            <a:round/>
            <a:headEnd len="sm" w="sm" type="none"/>
            <a:tailEnd len="med" w="med" type="triangle"/>
          </a:ln>
        </p:spPr>
      </p:cxnSp>
      <p:cxnSp>
        <p:nvCxnSpPr>
          <p:cNvPr id="152" name="Google Shape;152;p6"/>
          <p:cNvCxnSpPr>
            <a:stCxn id="142" idx="6"/>
            <a:endCxn id="144" idx="2"/>
          </p:cNvCxnSpPr>
          <p:nvPr/>
        </p:nvCxnSpPr>
        <p:spPr>
          <a:xfrm>
            <a:off x="2721273" y="2112101"/>
            <a:ext cx="922800" cy="0"/>
          </a:xfrm>
          <a:prstGeom prst="straightConnector1">
            <a:avLst/>
          </a:prstGeom>
          <a:noFill/>
          <a:ln cap="flat" cmpd="sng" w="38100">
            <a:solidFill>
              <a:srgbClr val="262626"/>
            </a:solidFill>
            <a:prstDash val="solid"/>
            <a:round/>
            <a:headEnd len="sm" w="sm" type="none"/>
            <a:tailEnd len="med" w="med" type="triangle"/>
          </a:ln>
        </p:spPr>
      </p:cxnSp>
      <p:cxnSp>
        <p:nvCxnSpPr>
          <p:cNvPr id="153" name="Google Shape;153;p6"/>
          <p:cNvCxnSpPr>
            <a:stCxn id="143" idx="6"/>
            <a:endCxn id="144" idx="3"/>
          </p:cNvCxnSpPr>
          <p:nvPr/>
        </p:nvCxnSpPr>
        <p:spPr>
          <a:xfrm flipH="1" rot="10800000">
            <a:off x="2661558" y="2240757"/>
            <a:ext cx="1035000" cy="672900"/>
          </a:xfrm>
          <a:prstGeom prst="straightConnector1">
            <a:avLst/>
          </a:prstGeom>
          <a:noFill/>
          <a:ln cap="flat" cmpd="sng" w="38100">
            <a:solidFill>
              <a:srgbClr val="262626"/>
            </a:solidFill>
            <a:prstDash val="solid"/>
            <a:round/>
            <a:headEnd len="sm" w="sm" type="none"/>
            <a:tailEnd len="med" w="med" type="triangle"/>
          </a:ln>
        </p:spPr>
      </p:cxnSp>
      <p:sp>
        <p:nvSpPr>
          <p:cNvPr id="154" name="Google Shape;154;p6"/>
          <p:cNvSpPr txBox="1"/>
          <p:nvPr/>
        </p:nvSpPr>
        <p:spPr>
          <a:xfrm>
            <a:off x="1495200" y="1133139"/>
            <a:ext cx="48122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alibri"/>
                <a:ea typeface="Calibri"/>
                <a:cs typeface="Calibri"/>
                <a:sym typeface="Calibri"/>
              </a:rPr>
              <a:t>W11</a:t>
            </a:r>
            <a:endParaRPr b="0" i="0" sz="1400" u="none" cap="none" strike="noStrike">
              <a:solidFill>
                <a:srgbClr val="000000"/>
              </a:solidFill>
              <a:latin typeface="Arial"/>
              <a:ea typeface="Arial"/>
              <a:cs typeface="Arial"/>
              <a:sym typeface="Arial"/>
            </a:endParaRPr>
          </a:p>
        </p:txBody>
      </p:sp>
      <p:sp>
        <p:nvSpPr>
          <p:cNvPr id="155" name="Google Shape;155;p6"/>
          <p:cNvSpPr txBox="1"/>
          <p:nvPr/>
        </p:nvSpPr>
        <p:spPr>
          <a:xfrm>
            <a:off x="558630" y="1339824"/>
            <a:ext cx="39466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X1</a:t>
            </a:r>
            <a:endParaRPr b="0" i="0" sz="1400" u="none" cap="none" strike="noStrike">
              <a:solidFill>
                <a:srgbClr val="000000"/>
              </a:solidFill>
              <a:latin typeface="Arial"/>
              <a:ea typeface="Arial"/>
              <a:cs typeface="Arial"/>
              <a:sym typeface="Arial"/>
            </a:endParaRPr>
          </a:p>
        </p:txBody>
      </p:sp>
      <p:sp>
        <p:nvSpPr>
          <p:cNvPr id="156" name="Google Shape;156;p6"/>
          <p:cNvSpPr txBox="1"/>
          <p:nvPr/>
        </p:nvSpPr>
        <p:spPr>
          <a:xfrm>
            <a:off x="578306" y="2112101"/>
            <a:ext cx="39466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X2</a:t>
            </a:r>
            <a:endParaRPr b="0" i="0" sz="1400" u="none" cap="none" strike="noStrike">
              <a:solidFill>
                <a:srgbClr val="000000"/>
              </a:solidFill>
              <a:latin typeface="Arial"/>
              <a:ea typeface="Arial"/>
              <a:cs typeface="Arial"/>
              <a:sym typeface="Arial"/>
            </a:endParaRPr>
          </a:p>
        </p:txBody>
      </p:sp>
      <p:sp>
        <p:nvSpPr>
          <p:cNvPr id="157" name="Google Shape;157;p6"/>
          <p:cNvSpPr txBox="1"/>
          <p:nvPr/>
        </p:nvSpPr>
        <p:spPr>
          <a:xfrm>
            <a:off x="438150" y="1040634"/>
            <a:ext cx="1119345"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Input Layer</a:t>
            </a:r>
            <a:endParaRPr b="0" i="0" sz="1400" u="none" cap="none" strike="noStrike">
              <a:solidFill>
                <a:srgbClr val="000000"/>
              </a:solidFill>
              <a:latin typeface="Arial"/>
              <a:ea typeface="Arial"/>
              <a:cs typeface="Arial"/>
              <a:sym typeface="Arial"/>
            </a:endParaRPr>
          </a:p>
        </p:txBody>
      </p:sp>
      <p:sp>
        <p:nvSpPr>
          <p:cNvPr id="158" name="Google Shape;158;p6"/>
          <p:cNvSpPr txBox="1"/>
          <p:nvPr/>
        </p:nvSpPr>
        <p:spPr>
          <a:xfrm>
            <a:off x="2023572" y="839219"/>
            <a:ext cx="127644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Hidden Layer</a:t>
            </a:r>
            <a:endParaRPr b="0" i="0" sz="1400" u="none" cap="none" strike="noStrike">
              <a:solidFill>
                <a:srgbClr val="000000"/>
              </a:solidFill>
              <a:latin typeface="Arial"/>
              <a:ea typeface="Arial"/>
              <a:cs typeface="Arial"/>
              <a:sym typeface="Arial"/>
            </a:endParaRPr>
          </a:p>
        </p:txBody>
      </p:sp>
      <p:sp>
        <p:nvSpPr>
          <p:cNvPr id="159" name="Google Shape;159;p6"/>
          <p:cNvSpPr txBox="1"/>
          <p:nvPr/>
        </p:nvSpPr>
        <p:spPr>
          <a:xfrm>
            <a:off x="3510854" y="1484327"/>
            <a:ext cx="127323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Output Layer</a:t>
            </a:r>
            <a:endParaRPr b="0" i="0" sz="1400" u="none" cap="none" strike="noStrike">
              <a:solidFill>
                <a:srgbClr val="000000"/>
              </a:solidFill>
              <a:latin typeface="Arial"/>
              <a:ea typeface="Arial"/>
              <a:cs typeface="Arial"/>
              <a:sym typeface="Arial"/>
            </a:endParaRPr>
          </a:p>
        </p:txBody>
      </p:sp>
      <p:sp>
        <p:nvSpPr>
          <p:cNvPr id="160" name="Google Shape;160;p6"/>
          <p:cNvSpPr txBox="1"/>
          <p:nvPr/>
        </p:nvSpPr>
        <p:spPr>
          <a:xfrm>
            <a:off x="1935672" y="1543697"/>
            <a:ext cx="47801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alibri"/>
                <a:ea typeface="Calibri"/>
                <a:cs typeface="Calibri"/>
                <a:sym typeface="Calibri"/>
              </a:rPr>
              <a:t>W12</a:t>
            </a:r>
            <a:endParaRPr b="0" i="0" sz="1400" u="none" cap="none" strike="noStrike">
              <a:solidFill>
                <a:srgbClr val="000000"/>
              </a:solidFill>
              <a:latin typeface="Arial"/>
              <a:ea typeface="Arial"/>
              <a:cs typeface="Arial"/>
              <a:sym typeface="Arial"/>
            </a:endParaRPr>
          </a:p>
        </p:txBody>
      </p:sp>
      <p:sp>
        <p:nvSpPr>
          <p:cNvPr id="161" name="Google Shape;161;p6"/>
          <p:cNvSpPr txBox="1"/>
          <p:nvPr/>
        </p:nvSpPr>
        <p:spPr>
          <a:xfrm>
            <a:off x="1977802" y="2158897"/>
            <a:ext cx="48122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alibri"/>
                <a:ea typeface="Calibri"/>
                <a:cs typeface="Calibri"/>
                <a:sym typeface="Calibri"/>
              </a:rPr>
              <a:t>W13</a:t>
            </a:r>
            <a:endParaRPr b="0" i="0" sz="1400" u="none" cap="none" strike="noStrike">
              <a:solidFill>
                <a:srgbClr val="000000"/>
              </a:solidFill>
              <a:latin typeface="Arial"/>
              <a:ea typeface="Arial"/>
              <a:cs typeface="Arial"/>
              <a:sym typeface="Arial"/>
            </a:endParaRPr>
          </a:p>
        </p:txBody>
      </p:sp>
      <p:sp>
        <p:nvSpPr>
          <p:cNvPr id="162" name="Google Shape;162;p6"/>
          <p:cNvSpPr txBox="1"/>
          <p:nvPr/>
        </p:nvSpPr>
        <p:spPr>
          <a:xfrm>
            <a:off x="1288788" y="1828262"/>
            <a:ext cx="48122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4F6128"/>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4F6128"/>
                </a:solidFill>
                <a:latin typeface="Calibri"/>
                <a:ea typeface="Calibri"/>
                <a:cs typeface="Calibri"/>
                <a:sym typeface="Calibri"/>
              </a:rPr>
              <a:t>W21</a:t>
            </a:r>
            <a:endParaRPr b="0" i="0" sz="1400" u="none" cap="none" strike="noStrike">
              <a:solidFill>
                <a:srgbClr val="000000"/>
              </a:solidFill>
              <a:latin typeface="Arial"/>
              <a:ea typeface="Arial"/>
              <a:cs typeface="Arial"/>
              <a:sym typeface="Arial"/>
            </a:endParaRPr>
          </a:p>
        </p:txBody>
      </p:sp>
      <p:sp>
        <p:nvSpPr>
          <p:cNvPr id="163" name="Google Shape;163;p6"/>
          <p:cNvSpPr txBox="1"/>
          <p:nvPr/>
        </p:nvSpPr>
        <p:spPr>
          <a:xfrm>
            <a:off x="1778851" y="1812619"/>
            <a:ext cx="48122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4F6128"/>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4F6128"/>
                </a:solidFill>
                <a:latin typeface="Calibri"/>
                <a:ea typeface="Calibri"/>
                <a:cs typeface="Calibri"/>
                <a:sym typeface="Calibri"/>
              </a:rPr>
              <a:t>W22</a:t>
            </a:r>
            <a:endParaRPr b="0" i="0" sz="1400" u="none" cap="none" strike="noStrike">
              <a:solidFill>
                <a:srgbClr val="000000"/>
              </a:solidFill>
              <a:latin typeface="Arial"/>
              <a:ea typeface="Arial"/>
              <a:cs typeface="Arial"/>
              <a:sym typeface="Arial"/>
            </a:endParaRPr>
          </a:p>
        </p:txBody>
      </p:sp>
      <p:sp>
        <p:nvSpPr>
          <p:cNvPr id="164" name="Google Shape;164;p6"/>
          <p:cNvSpPr txBox="1"/>
          <p:nvPr/>
        </p:nvSpPr>
        <p:spPr>
          <a:xfrm>
            <a:off x="1620306" y="2523824"/>
            <a:ext cx="55976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4F6128"/>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4F6128"/>
                </a:solidFill>
                <a:latin typeface="Calibri"/>
                <a:ea typeface="Calibri"/>
                <a:cs typeface="Calibri"/>
                <a:sym typeface="Calibri"/>
              </a:rPr>
              <a:t>W231</a:t>
            </a:r>
            <a:endParaRPr b="0" i="0" sz="1400" u="none" cap="none" strike="noStrike">
              <a:solidFill>
                <a:srgbClr val="000000"/>
              </a:solidFill>
              <a:latin typeface="Arial"/>
              <a:ea typeface="Arial"/>
              <a:cs typeface="Arial"/>
              <a:sym typeface="Arial"/>
            </a:endParaRPr>
          </a:p>
        </p:txBody>
      </p:sp>
      <p:sp>
        <p:nvSpPr>
          <p:cNvPr id="165" name="Google Shape;165;p6"/>
          <p:cNvSpPr txBox="1"/>
          <p:nvPr/>
        </p:nvSpPr>
        <p:spPr>
          <a:xfrm>
            <a:off x="345032" y="3358847"/>
            <a:ext cx="4317144"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ANN : Loan Approval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Input Layers                       Output Layer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X1 🡪 Credit Score           Y 🡪 Loan Approval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X2 🡪 Salary Level</a:t>
            </a:r>
            <a:endParaRPr b="0" i="0" sz="1800" u="none" cap="none" strike="noStrike">
              <a:solidFill>
                <a:schemeClr val="dk1"/>
              </a:solidFill>
              <a:latin typeface="Calibri"/>
              <a:ea typeface="Calibri"/>
              <a:cs typeface="Calibri"/>
              <a:sym typeface="Calibri"/>
            </a:endParaRPr>
          </a:p>
        </p:txBody>
      </p:sp>
      <p:graphicFrame>
        <p:nvGraphicFramePr>
          <p:cNvPr id="166" name="Google Shape;166;p6"/>
          <p:cNvGraphicFramePr/>
          <p:nvPr/>
        </p:nvGraphicFramePr>
        <p:xfrm>
          <a:off x="4953000" y="3251376"/>
          <a:ext cx="3000000" cy="3000000"/>
        </p:xfrm>
        <a:graphic>
          <a:graphicData uri="http://schemas.openxmlformats.org/drawingml/2006/table">
            <a:tbl>
              <a:tblPr bandRow="1" firstRow="1">
                <a:noFill/>
                <a:tableStyleId>{0ABADCC9-80D9-4A51-9E3C-264ECB128489}</a:tableStyleId>
              </a:tblPr>
              <a:tblGrid>
                <a:gridCol w="1090950"/>
                <a:gridCol w="1090950"/>
                <a:gridCol w="1090950"/>
              </a:tblGrid>
              <a:tr h="2078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X1</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X2</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Y</a:t>
                      </a:r>
                      <a:endParaRPr sz="1400" u="none" cap="none" strike="noStrike"/>
                    </a:p>
                  </a:txBody>
                  <a:tcPr marT="45725" marB="45725" marR="91450" marL="91450"/>
                </a:tc>
              </a:tr>
              <a:tr h="2078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0.8</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0.6</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1</a:t>
                      </a:r>
                      <a:endParaRPr sz="1400" u="none" cap="none" strike="noStrike"/>
                    </a:p>
                  </a:txBody>
                  <a:tcPr marT="45725" marB="45725" marR="91450" marL="91450"/>
                </a:tc>
              </a:tr>
              <a:tr h="2078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0.3</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0.7</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r>
              <a:tr h="2078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0.6</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0.4</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0</a:t>
                      </a:r>
                      <a:endParaRPr sz="1400" u="none" cap="none" strike="noStrike"/>
                    </a:p>
                  </a:txBody>
                  <a:tcPr marT="45725" marB="45725" marR="91450" marL="91450"/>
                </a:tc>
              </a:tr>
            </a:tbl>
          </a:graphicData>
        </a:graphic>
      </p:graphicFrame>
      <p:sp>
        <p:nvSpPr>
          <p:cNvPr id="167" name="Google Shape;167;p6"/>
          <p:cNvSpPr txBox="1"/>
          <p:nvPr/>
        </p:nvSpPr>
        <p:spPr>
          <a:xfrm>
            <a:off x="5261413" y="899551"/>
            <a:ext cx="3349187"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Y</a:t>
            </a:r>
            <a:r>
              <a:rPr b="0" baseline="-25000" i="0" lang="en-US" sz="1800" u="none" cap="none" strike="noStrike">
                <a:solidFill>
                  <a:schemeClr val="dk1"/>
                </a:solidFill>
                <a:latin typeface="Calibri"/>
                <a:ea typeface="Calibri"/>
                <a:cs typeface="Calibri"/>
                <a:sym typeface="Calibri"/>
              </a:rPr>
              <a:t>predict </a:t>
            </a:r>
            <a:r>
              <a:rPr b="0" i="0" lang="en-US" sz="1800" u="none" cap="none" strike="noStrike">
                <a:solidFill>
                  <a:schemeClr val="dk1"/>
                </a:solidFill>
                <a:latin typeface="Calibri"/>
                <a:ea typeface="Calibri"/>
                <a:cs typeface="Calibri"/>
                <a:sym typeface="Calibri"/>
              </a:rPr>
              <a:t>=( X1*W11+X2*W21+B1)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 X1*W12+X2*W22+B2)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(X1*W13+X2*W23+B3) </a:t>
            </a:r>
            <a:endParaRPr b="0" i="0" sz="1400" u="none" cap="none" strike="noStrike">
              <a:solidFill>
                <a:srgbClr val="000000"/>
              </a:solidFill>
              <a:latin typeface="Arial"/>
              <a:ea typeface="Arial"/>
              <a:cs typeface="Arial"/>
              <a:sym typeface="Arial"/>
            </a:endParaRPr>
          </a:p>
        </p:txBody>
      </p:sp>
      <p:sp>
        <p:nvSpPr>
          <p:cNvPr id="168" name="Google Shape;168;p6"/>
          <p:cNvSpPr txBox="1"/>
          <p:nvPr/>
        </p:nvSpPr>
        <p:spPr>
          <a:xfrm>
            <a:off x="5261413" y="1885389"/>
            <a:ext cx="2443811"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error = Y</a:t>
            </a:r>
            <a:r>
              <a:rPr b="0" baseline="-25000" i="0" lang="en-US" sz="1800" u="none" cap="none" strike="noStrike">
                <a:solidFill>
                  <a:schemeClr val="dk1"/>
                </a:solidFill>
                <a:latin typeface="Calibri"/>
                <a:ea typeface="Calibri"/>
                <a:cs typeface="Calibri"/>
                <a:sym typeface="Calibri"/>
              </a:rPr>
              <a:t>p</a:t>
            </a:r>
            <a:r>
              <a:rPr b="0" i="0" lang="en-US" sz="1800" u="none" cap="none" strike="noStrike">
                <a:solidFill>
                  <a:schemeClr val="dk1"/>
                </a:solidFill>
                <a:latin typeface="Calibri"/>
                <a:ea typeface="Calibri"/>
                <a:cs typeface="Calibri"/>
                <a:sym typeface="Calibri"/>
              </a:rPr>
              <a:t>*(1-Y</a:t>
            </a:r>
            <a:r>
              <a:rPr b="0" baseline="-25000" i="0" lang="en-US" sz="1800" u="none" cap="none" strike="noStrike">
                <a:solidFill>
                  <a:schemeClr val="dk1"/>
                </a:solidFill>
                <a:latin typeface="Calibri"/>
                <a:ea typeface="Calibri"/>
                <a:cs typeface="Calibri"/>
                <a:sym typeface="Calibri"/>
              </a:rPr>
              <a:t>p</a:t>
            </a:r>
            <a:r>
              <a:rPr b="0" i="0" lang="en-US" sz="1800" u="none" cap="none" strike="noStrike">
                <a:solidFill>
                  <a:schemeClr val="dk1"/>
                </a:solidFill>
                <a:latin typeface="Calibri"/>
                <a:ea typeface="Calibri"/>
                <a:cs typeface="Calibri"/>
                <a:sym typeface="Calibri"/>
              </a:rPr>
              <a:t>)*(Y</a:t>
            </a:r>
            <a:r>
              <a:rPr b="0" baseline="-25000" i="0" lang="en-US" sz="1800" u="none" cap="none" strike="noStrike">
                <a:solidFill>
                  <a:schemeClr val="dk1"/>
                </a:solidFill>
                <a:latin typeface="Calibri"/>
                <a:ea typeface="Calibri"/>
                <a:cs typeface="Calibri"/>
                <a:sym typeface="Calibri"/>
              </a:rPr>
              <a:t>a </a:t>
            </a:r>
            <a:r>
              <a:rPr b="0" i="0" lang="en-US" sz="1800" u="none" cap="none" strike="noStrike">
                <a:solidFill>
                  <a:schemeClr val="dk1"/>
                </a:solidFill>
                <a:latin typeface="Calibri"/>
                <a:ea typeface="Calibri"/>
                <a:cs typeface="Calibri"/>
                <a:sym typeface="Calibri"/>
              </a:rPr>
              <a:t>- Y</a:t>
            </a:r>
            <a:r>
              <a:rPr b="0" baseline="-25000" i="0" lang="en-US" sz="1800" u="none" cap="none" strike="noStrike">
                <a:solidFill>
                  <a:schemeClr val="dk1"/>
                </a:solidFill>
                <a:latin typeface="Calibri"/>
                <a:ea typeface="Calibri"/>
                <a:cs typeface="Calibri"/>
                <a:sym typeface="Calibri"/>
              </a:rPr>
              <a:t>p</a:t>
            </a:r>
            <a:r>
              <a:rPr b="0" i="0" lang="en-US"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W</a:t>
            </a:r>
            <a:r>
              <a:rPr b="0" baseline="-25000" i="0" lang="en-US" sz="1800" u="none" cap="none" strike="noStrike">
                <a:solidFill>
                  <a:schemeClr val="dk1"/>
                </a:solidFill>
                <a:latin typeface="Calibri"/>
                <a:ea typeface="Calibri"/>
                <a:cs typeface="Calibri"/>
                <a:sym typeface="Calibri"/>
              </a:rPr>
              <a:t>new</a:t>
            </a:r>
            <a:r>
              <a:rPr b="0" i="0" lang="en-US" sz="1800" u="none" cap="none" strike="noStrike">
                <a:solidFill>
                  <a:schemeClr val="dk1"/>
                </a:solidFill>
                <a:latin typeface="Calibri"/>
                <a:ea typeface="Calibri"/>
                <a:cs typeface="Calibri"/>
                <a:sym typeface="Calibri"/>
              </a:rPr>
              <a:t> = W</a:t>
            </a:r>
            <a:r>
              <a:rPr b="0" baseline="-25000" i="0" lang="en-US" sz="1800" u="none" cap="none" strike="noStrike">
                <a:solidFill>
                  <a:schemeClr val="dk1"/>
                </a:solidFill>
                <a:latin typeface="Calibri"/>
                <a:ea typeface="Calibri"/>
                <a:cs typeface="Calibri"/>
                <a:sym typeface="Calibri"/>
              </a:rPr>
              <a:t>old </a:t>
            </a:r>
            <a:r>
              <a:rPr b="0" i="0" lang="en-US" sz="1800" u="none" cap="none" strike="noStrike">
                <a:solidFill>
                  <a:schemeClr val="dk1"/>
                </a:solidFill>
                <a:latin typeface="Calibri"/>
                <a:ea typeface="Calibri"/>
                <a:cs typeface="Calibri"/>
                <a:sym typeface="Calibri"/>
              </a:rPr>
              <a:t>+</a:t>
            </a:r>
            <a:r>
              <a:rPr b="0" i="0" lang="en-US" sz="1800" u="none" cap="none" strike="noStrike">
                <a:solidFill>
                  <a:schemeClr val="dk1"/>
                </a:solidFill>
                <a:latin typeface="Arial"/>
                <a:ea typeface="Arial"/>
                <a:cs typeface="Arial"/>
                <a:sym typeface="Arial"/>
              </a:rPr>
              <a:t> l</a:t>
            </a:r>
            <a:r>
              <a:rPr b="0" i="0" lang="en-US" sz="1800" u="none" cap="none" strike="noStrike">
                <a:solidFill>
                  <a:schemeClr val="dk1"/>
                </a:solidFill>
                <a:latin typeface="Calibri"/>
                <a:ea typeface="Calibri"/>
                <a:cs typeface="Calibri"/>
                <a:sym typeface="Calibri"/>
              </a:rPr>
              <a:t>*(error)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B</a:t>
            </a:r>
            <a:r>
              <a:rPr b="0" baseline="-25000" i="0" lang="en-US" sz="1800" u="none" cap="none" strike="noStrike">
                <a:solidFill>
                  <a:schemeClr val="dk1"/>
                </a:solidFill>
                <a:latin typeface="Calibri"/>
                <a:ea typeface="Calibri"/>
                <a:cs typeface="Calibri"/>
                <a:sym typeface="Calibri"/>
              </a:rPr>
              <a:t>new</a:t>
            </a:r>
            <a:r>
              <a:rPr b="0" i="0" lang="en-US" sz="1800" u="none" cap="none" strike="noStrike">
                <a:solidFill>
                  <a:schemeClr val="dk1"/>
                </a:solidFill>
                <a:latin typeface="Calibri"/>
                <a:ea typeface="Calibri"/>
                <a:cs typeface="Calibri"/>
                <a:sym typeface="Calibri"/>
              </a:rPr>
              <a:t>  =  B</a:t>
            </a:r>
            <a:r>
              <a:rPr b="0" baseline="-25000" i="0" lang="en-US" sz="1800" u="none" cap="none" strike="noStrike">
                <a:solidFill>
                  <a:schemeClr val="dk1"/>
                </a:solidFill>
                <a:latin typeface="Calibri"/>
                <a:ea typeface="Calibri"/>
                <a:cs typeface="Calibri"/>
                <a:sym typeface="Calibri"/>
              </a:rPr>
              <a:t>old </a:t>
            </a:r>
            <a:r>
              <a:rPr b="0" i="0" lang="en-US" sz="1800" u="none" cap="none" strike="noStrike">
                <a:solidFill>
                  <a:schemeClr val="dk1"/>
                </a:solidFill>
                <a:latin typeface="Calibri"/>
                <a:ea typeface="Calibri"/>
                <a:cs typeface="Calibri"/>
                <a:sym typeface="Calibri"/>
              </a:rPr>
              <a:t>+ </a:t>
            </a:r>
            <a:r>
              <a:rPr b="0" i="0" lang="en-US" sz="1800" u="none" cap="none" strike="noStrike">
                <a:solidFill>
                  <a:schemeClr val="dk1"/>
                </a:solidFill>
                <a:latin typeface="Arial"/>
                <a:ea typeface="Arial"/>
                <a:cs typeface="Arial"/>
                <a:sym typeface="Arial"/>
              </a:rPr>
              <a:t> l</a:t>
            </a:r>
            <a:r>
              <a:rPr b="0" i="0" lang="en-US" sz="1800" u="none" cap="none" strike="noStrike">
                <a:solidFill>
                  <a:schemeClr val="dk1"/>
                </a:solidFill>
                <a:latin typeface="Calibri"/>
                <a:ea typeface="Calibri"/>
                <a:cs typeface="Calibri"/>
                <a:sym typeface="Calibri"/>
              </a:rPr>
              <a:t>*(error)</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500"/>
                                        <p:tgtEl>
                                          <p:spTgt spid="145"/>
                                        </p:tgtEl>
                                      </p:cBhvr>
                                    </p:animEffect>
                                  </p:childTnLst>
                                </p:cTn>
                              </p:par>
                              <p:par>
                                <p:cTn fill="hold" nodeType="with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500"/>
                                        <p:tgtEl>
                                          <p:spTgt spid="146"/>
                                        </p:tgtEl>
                                      </p:cBhvr>
                                    </p:animEffect>
                                  </p:childTnLst>
                                </p:cTn>
                              </p:par>
                              <p:par>
                                <p:cTn fill="hold" nodeType="with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500"/>
                                        <p:tgtEl>
                                          <p:spTgt spid="147"/>
                                        </p:tgtEl>
                                      </p:cBhvr>
                                    </p:animEffect>
                                  </p:childTnLst>
                                </p:cTn>
                              </p:par>
                              <p:par>
                                <p:cTn fill="hold" nodeType="with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500"/>
                                        <p:tgtEl>
                                          <p:spTgt spid="148"/>
                                        </p:tgtEl>
                                      </p:cBhvr>
                                    </p:animEffect>
                                  </p:childTnLst>
                                </p:cTn>
                              </p:par>
                              <p:par>
                                <p:cTn fill="hold" nodeType="with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500"/>
                                        <p:tgtEl>
                                          <p:spTgt spid="149"/>
                                        </p:tgtEl>
                                      </p:cBhvr>
                                    </p:animEffect>
                                  </p:childTnLst>
                                </p:cTn>
                              </p:par>
                              <p:par>
                                <p:cTn fill="hold" nodeType="with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500"/>
                                        <p:tgtEl>
                                          <p:spTgt spid="150"/>
                                        </p:tgtEl>
                                      </p:cBhvr>
                                    </p:animEffect>
                                  </p:childTnLst>
                                </p:cTn>
                              </p:par>
                              <p:par>
                                <p:cTn fill="hold" nodeType="with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500"/>
                                        <p:tgtEl>
                                          <p:spTgt spid="154"/>
                                        </p:tgtEl>
                                      </p:cBhvr>
                                    </p:animEffect>
                                  </p:childTnLst>
                                </p:cTn>
                              </p:par>
                              <p:par>
                                <p:cTn fill="hold" nodeType="with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500"/>
                                        <p:tgtEl>
                                          <p:spTgt spid="160"/>
                                        </p:tgtEl>
                                      </p:cBhvr>
                                    </p:animEffect>
                                  </p:childTnLst>
                                </p:cTn>
                              </p:par>
                              <p:par>
                                <p:cTn fill="hold" nodeType="with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500"/>
                                        <p:tgtEl>
                                          <p:spTgt spid="161"/>
                                        </p:tgtEl>
                                      </p:cBhvr>
                                    </p:animEffect>
                                  </p:childTnLst>
                                </p:cTn>
                              </p:par>
                              <p:par>
                                <p:cTn fill="hold" nodeType="with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500"/>
                                        <p:tgtEl>
                                          <p:spTgt spid="163"/>
                                        </p:tgtEl>
                                      </p:cBhvr>
                                    </p:animEffect>
                                  </p:childTnLst>
                                </p:cTn>
                              </p:par>
                              <p:par>
                                <p:cTn fill="hold" nodeType="with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500"/>
                                        <p:tgtEl>
                                          <p:spTgt spid="1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par>
                                <p:cTn fill="hold" nodeType="with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500"/>
                                        <p:tgtEl>
                                          <p:spTgt spid="152"/>
                                        </p:tgtEl>
                                      </p:cBhvr>
                                    </p:animEffect>
                                  </p:childTnLst>
                                </p:cTn>
                              </p:par>
                              <p:par>
                                <p:cTn fill="hold" nodeType="with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500"/>
                                        <p:tgtEl>
                                          <p:spTgt spid="1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7"/>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t>Stopping Criteria</a:t>
            </a:r>
            <a:endParaRPr/>
          </a:p>
        </p:txBody>
      </p:sp>
      <p:sp>
        <p:nvSpPr>
          <p:cNvPr id="174" name="Google Shape;174;p7"/>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Max Iteration</a:t>
            </a:r>
            <a:endParaRPr/>
          </a:p>
          <a:p>
            <a:pPr indent="-342900" lvl="0" marL="342900" rtl="0" algn="l">
              <a:lnSpc>
                <a:spcPct val="100000"/>
              </a:lnSpc>
              <a:spcBef>
                <a:spcPts val="640"/>
              </a:spcBef>
              <a:spcAft>
                <a:spcPts val="0"/>
              </a:spcAft>
              <a:buClr>
                <a:schemeClr val="dk1"/>
              </a:buClr>
              <a:buSzPts val="3200"/>
              <a:buChar char="•"/>
            </a:pPr>
            <a:r>
              <a:rPr lang="en-US"/>
              <a:t>Validation score not improving</a:t>
            </a:r>
            <a:endParaRPr/>
          </a:p>
          <a:p>
            <a:pPr indent="-342900" lvl="0" marL="342900" rtl="0" algn="l">
              <a:lnSpc>
                <a:spcPct val="100000"/>
              </a:lnSpc>
              <a:spcBef>
                <a:spcPts val="640"/>
              </a:spcBef>
              <a:spcAft>
                <a:spcPts val="0"/>
              </a:spcAft>
              <a:buClr>
                <a:schemeClr val="dk1"/>
              </a:buClr>
              <a:buSzPts val="3200"/>
              <a:buChar char="•"/>
            </a:pPr>
            <a:r>
              <a:rPr lang="en-US"/>
              <a:t>Errors below threshold</a:t>
            </a:r>
            <a:endParaRPr/>
          </a:p>
          <a:p>
            <a:pPr indent="-139700" lvl="0" marL="342900" rtl="0" algn="l">
              <a:lnSpc>
                <a:spcPct val="100000"/>
              </a:lnSpc>
              <a:spcBef>
                <a:spcPts val="640"/>
              </a:spcBef>
              <a:spcAft>
                <a:spcPts val="0"/>
              </a:spcAft>
              <a:buClr>
                <a:schemeClr val="dk1"/>
              </a:buClr>
              <a:buSzPts val="3200"/>
              <a:buNone/>
            </a:pPr>
            <a:r>
              <a:t/>
            </a:r>
            <a:endParaRPr/>
          </a:p>
        </p:txBody>
      </p:sp>
      <p:sp>
        <p:nvSpPr>
          <p:cNvPr id="175" name="Google Shape;175;p7"/>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8"/>
          <p:cNvSpPr txBox="1"/>
          <p:nvPr>
            <p:ph type="title"/>
          </p:nvPr>
        </p:nvSpPr>
        <p:spPr>
          <a:xfrm>
            <a:off x="457200" y="133350"/>
            <a:ext cx="6172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t>Hidden Layer Activation Functions</a:t>
            </a:r>
            <a:endParaRPr/>
          </a:p>
        </p:txBody>
      </p:sp>
      <p:sp>
        <p:nvSpPr>
          <p:cNvPr id="181" name="Google Shape;181;p8"/>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182" name="Google Shape;182;p8"/>
          <p:cNvPicPr preferRelativeResize="0"/>
          <p:nvPr/>
        </p:nvPicPr>
        <p:blipFill rotWithShape="1">
          <a:blip r:embed="rId3">
            <a:alphaModFix/>
          </a:blip>
          <a:srcRect b="0" l="0" r="0" t="0"/>
          <a:stretch/>
        </p:blipFill>
        <p:spPr>
          <a:xfrm>
            <a:off x="838200" y="1428750"/>
            <a:ext cx="6705600" cy="269701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9"/>
          <p:cNvSpPr txBox="1"/>
          <p:nvPr>
            <p:ph type="title"/>
          </p:nvPr>
        </p:nvSpPr>
        <p:spPr>
          <a:xfrm>
            <a:off x="457200" y="133350"/>
            <a:ext cx="6172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t>Output Layer Activation Functions</a:t>
            </a:r>
            <a:endParaRPr/>
          </a:p>
        </p:txBody>
      </p:sp>
      <p:sp>
        <p:nvSpPr>
          <p:cNvPr id="188" name="Google Shape;188;p9"/>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Classification</a:t>
            </a:r>
            <a:endParaRPr/>
          </a:p>
          <a:p>
            <a:pPr indent="-285750" lvl="1" marL="742950" rtl="0" algn="l">
              <a:lnSpc>
                <a:spcPct val="100000"/>
              </a:lnSpc>
              <a:spcBef>
                <a:spcPts val="560"/>
              </a:spcBef>
              <a:spcAft>
                <a:spcPts val="0"/>
              </a:spcAft>
              <a:buClr>
                <a:schemeClr val="dk1"/>
              </a:buClr>
              <a:buSzPts val="2800"/>
              <a:buChar char="–"/>
            </a:pPr>
            <a:r>
              <a:rPr lang="en-US"/>
              <a:t>Softmax</a:t>
            </a:r>
            <a:endParaRPr/>
          </a:p>
          <a:p>
            <a:pPr indent="-285750" lvl="1" marL="742950" rtl="0" algn="l">
              <a:lnSpc>
                <a:spcPct val="100000"/>
              </a:lnSpc>
              <a:spcBef>
                <a:spcPts val="560"/>
              </a:spcBef>
              <a:spcAft>
                <a:spcPts val="0"/>
              </a:spcAft>
              <a:buClr>
                <a:schemeClr val="dk1"/>
              </a:buClr>
              <a:buSzPts val="2800"/>
              <a:buChar char="–"/>
            </a:pPr>
            <a:r>
              <a:rPr lang="en-US"/>
              <a:t>Sigmoid</a:t>
            </a:r>
            <a:endParaRPr/>
          </a:p>
          <a:p>
            <a:pPr indent="-342900" lvl="0" marL="342900" rtl="0" algn="l">
              <a:lnSpc>
                <a:spcPct val="100000"/>
              </a:lnSpc>
              <a:spcBef>
                <a:spcPts val="640"/>
              </a:spcBef>
              <a:spcAft>
                <a:spcPts val="0"/>
              </a:spcAft>
              <a:buClr>
                <a:schemeClr val="dk1"/>
              </a:buClr>
              <a:buSzPts val="3200"/>
              <a:buChar char="•"/>
            </a:pPr>
            <a:r>
              <a:rPr lang="en-US"/>
              <a:t>Regression</a:t>
            </a:r>
            <a:endParaRPr/>
          </a:p>
          <a:p>
            <a:pPr indent="-285750" lvl="1" marL="742950" rtl="0" algn="l">
              <a:lnSpc>
                <a:spcPct val="100000"/>
              </a:lnSpc>
              <a:spcBef>
                <a:spcPts val="560"/>
              </a:spcBef>
              <a:spcAft>
                <a:spcPts val="0"/>
              </a:spcAft>
              <a:buClr>
                <a:schemeClr val="dk1"/>
              </a:buClr>
              <a:buSzPts val="2800"/>
              <a:buChar char="–"/>
            </a:pPr>
            <a:r>
              <a:rPr lang="en-US"/>
              <a:t>Linear </a:t>
            </a:r>
            <a:endParaRPr/>
          </a:p>
        </p:txBody>
      </p:sp>
      <p:sp>
        <p:nvSpPr>
          <p:cNvPr id="189" name="Google Shape;189;p9"/>
          <p:cNvSpPr txBox="1"/>
          <p:nvPr>
            <p:ph idx="12" type="sldNum"/>
          </p:nvPr>
        </p:nvSpPr>
        <p:spPr>
          <a:xfrm>
            <a:off x="8610600" y="4850606"/>
            <a:ext cx="3810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0"/>
          <p:cNvSpPr txBox="1"/>
          <p:nvPr>
            <p:ph type="title"/>
          </p:nvPr>
        </p:nvSpPr>
        <p:spPr>
          <a:xfrm>
            <a:off x="457200" y="133350"/>
            <a:ext cx="6172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t>How ANN Works? -Typical ANN </a:t>
            </a:r>
            <a:endParaRPr/>
          </a:p>
        </p:txBody>
      </p:sp>
      <p:sp>
        <p:nvSpPr>
          <p:cNvPr id="195" name="Google Shape;195;p10"/>
          <p:cNvSpPr txBox="1"/>
          <p:nvPr>
            <p:ph idx="12" type="sldNum"/>
          </p:nvPr>
        </p:nvSpPr>
        <p:spPr>
          <a:xfrm>
            <a:off x="8535625" y="4850600"/>
            <a:ext cx="5115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descr="https://cdn-images-1.medium.com/max/1600/0*IUWJ5oJ_z6AiG7Ja.jpg" id="196" name="Google Shape;196;p10"/>
          <p:cNvPicPr preferRelativeResize="0"/>
          <p:nvPr/>
        </p:nvPicPr>
        <p:blipFill rotWithShape="1">
          <a:blip r:embed="rId3">
            <a:alphaModFix/>
          </a:blip>
          <a:srcRect b="0" l="0" r="0" t="0"/>
          <a:stretch/>
        </p:blipFill>
        <p:spPr>
          <a:xfrm>
            <a:off x="1371600" y="907600"/>
            <a:ext cx="5983705" cy="3714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1"/>
          <p:cNvSpPr txBox="1"/>
          <p:nvPr>
            <p:ph type="title"/>
          </p:nvPr>
        </p:nvSpPr>
        <p:spPr>
          <a:xfrm>
            <a:off x="457200" y="133350"/>
            <a:ext cx="58674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t>How ANN Works? - Types of ANN</a:t>
            </a:r>
            <a:endParaRPr/>
          </a:p>
        </p:txBody>
      </p:sp>
      <p:sp>
        <p:nvSpPr>
          <p:cNvPr id="202" name="Google Shape;202;p11"/>
          <p:cNvSpPr txBox="1"/>
          <p:nvPr>
            <p:ph idx="12" type="sldNum"/>
          </p:nvPr>
        </p:nvSpPr>
        <p:spPr>
          <a:xfrm>
            <a:off x="8565125" y="4850600"/>
            <a:ext cx="5115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descr="https://cdn-images-1.medium.com/max/1600/0*AYTsMuWP7JdoLf78.jpg" id="203" name="Google Shape;203;p11"/>
          <p:cNvPicPr preferRelativeResize="0"/>
          <p:nvPr/>
        </p:nvPicPr>
        <p:blipFill rotWithShape="1">
          <a:blip r:embed="rId3">
            <a:alphaModFix/>
          </a:blip>
          <a:srcRect b="0" l="0" r="0" t="0"/>
          <a:stretch/>
        </p:blipFill>
        <p:spPr>
          <a:xfrm>
            <a:off x="1524000" y="979733"/>
            <a:ext cx="5029200" cy="350431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2"/>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t>Pros of ANN</a:t>
            </a:r>
            <a:endParaRPr/>
          </a:p>
        </p:txBody>
      </p:sp>
      <p:sp>
        <p:nvSpPr>
          <p:cNvPr id="209" name="Google Shape;209;p12"/>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2960"/>
              <a:buChar char="•"/>
            </a:pPr>
            <a:r>
              <a:rPr lang="en-US" sz="2960"/>
              <a:t>Good to model the non-linear data with large number of input features</a:t>
            </a:r>
            <a:endParaRPr/>
          </a:p>
          <a:p>
            <a:pPr indent="-342900" lvl="0" marL="342900" rtl="0" algn="l">
              <a:lnSpc>
                <a:spcPct val="80000"/>
              </a:lnSpc>
              <a:spcBef>
                <a:spcPts val="592"/>
              </a:spcBef>
              <a:spcAft>
                <a:spcPts val="0"/>
              </a:spcAft>
              <a:buClr>
                <a:schemeClr val="dk1"/>
              </a:buClr>
              <a:buSzPts val="2960"/>
              <a:buChar char="•"/>
            </a:pPr>
            <a:r>
              <a:rPr lang="en-US" sz="2960"/>
              <a:t>Widely used for high dimensionality data.</a:t>
            </a:r>
            <a:endParaRPr/>
          </a:p>
          <a:p>
            <a:pPr indent="-342900" lvl="0" marL="342900" rtl="0" algn="l">
              <a:lnSpc>
                <a:spcPct val="80000"/>
              </a:lnSpc>
              <a:spcBef>
                <a:spcPts val="592"/>
              </a:spcBef>
              <a:spcAft>
                <a:spcPts val="0"/>
              </a:spcAft>
              <a:buClr>
                <a:schemeClr val="dk1"/>
              </a:buClr>
              <a:buSzPts val="2960"/>
              <a:buChar char="•"/>
            </a:pPr>
            <a:r>
              <a:rPr lang="en-US" sz="2960"/>
              <a:t> ANNs can generalize — After learning from the initial inputs and their relationships</a:t>
            </a:r>
            <a:endParaRPr/>
          </a:p>
          <a:p>
            <a:pPr indent="-342900" lvl="0" marL="342900" rtl="0" algn="l">
              <a:lnSpc>
                <a:spcPct val="80000"/>
              </a:lnSpc>
              <a:spcBef>
                <a:spcPts val="592"/>
              </a:spcBef>
              <a:spcAft>
                <a:spcPts val="0"/>
              </a:spcAft>
              <a:buClr>
                <a:schemeClr val="dk1"/>
              </a:buClr>
              <a:buSzPts val="2960"/>
              <a:buChar char="•"/>
            </a:pPr>
            <a:r>
              <a:rPr lang="en-US" sz="2960"/>
              <a:t>ANN does not impose any restrictions on the input variables (like how they should be distributed)</a:t>
            </a:r>
            <a:endParaRPr/>
          </a:p>
          <a:p>
            <a:pPr indent="-154940" lvl="0" marL="342900" rtl="0" algn="l">
              <a:lnSpc>
                <a:spcPct val="80000"/>
              </a:lnSpc>
              <a:spcBef>
                <a:spcPts val="592"/>
              </a:spcBef>
              <a:spcAft>
                <a:spcPts val="0"/>
              </a:spcAft>
              <a:buClr>
                <a:schemeClr val="dk1"/>
              </a:buClr>
              <a:buSzPts val="2960"/>
              <a:buNone/>
            </a:pPr>
            <a:r>
              <a:t/>
            </a:r>
            <a:endParaRPr sz="2960"/>
          </a:p>
        </p:txBody>
      </p:sp>
      <p:sp>
        <p:nvSpPr>
          <p:cNvPr id="210" name="Google Shape;210;p12"/>
          <p:cNvSpPr txBox="1"/>
          <p:nvPr>
            <p:ph idx="12" type="sldNum"/>
          </p:nvPr>
        </p:nvSpPr>
        <p:spPr>
          <a:xfrm>
            <a:off x="8610600" y="4850600"/>
            <a:ext cx="4560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3"/>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t>Cons of ANN</a:t>
            </a:r>
            <a:endParaRPr/>
          </a:p>
        </p:txBody>
      </p:sp>
      <p:sp>
        <p:nvSpPr>
          <p:cNvPr id="216" name="Google Shape;216;p13"/>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720"/>
              <a:buChar char="•"/>
            </a:pPr>
            <a:r>
              <a:rPr lang="en-US" sz="2720"/>
              <a:t>NNs are useable only for numerical inputs, vectors with constant number of values, and datasets with non-missing data </a:t>
            </a:r>
            <a:endParaRPr/>
          </a:p>
          <a:p>
            <a:pPr indent="-342900" lvl="0" marL="342900" rtl="0" algn="l">
              <a:lnSpc>
                <a:spcPct val="90000"/>
              </a:lnSpc>
              <a:spcBef>
                <a:spcPts val="544"/>
              </a:spcBef>
              <a:spcAft>
                <a:spcPts val="0"/>
              </a:spcAft>
              <a:buClr>
                <a:schemeClr val="dk1"/>
              </a:buClr>
              <a:buSzPts val="2720"/>
              <a:buChar char="•"/>
            </a:pPr>
            <a:r>
              <a:rPr lang="en-US" sz="2720"/>
              <a:t> ANNs are computationally expensive.</a:t>
            </a:r>
            <a:endParaRPr/>
          </a:p>
          <a:p>
            <a:pPr indent="-342900" lvl="0" marL="342900" rtl="0" algn="l">
              <a:lnSpc>
                <a:spcPct val="90000"/>
              </a:lnSpc>
              <a:spcBef>
                <a:spcPts val="544"/>
              </a:spcBef>
              <a:spcAft>
                <a:spcPts val="0"/>
              </a:spcAft>
              <a:buClr>
                <a:schemeClr val="dk1"/>
              </a:buClr>
              <a:buSzPts val="2720"/>
              <a:buChar char="•"/>
            </a:pPr>
            <a:r>
              <a:rPr lang="en-US" sz="2720"/>
              <a:t>Black box, difficult to understand the modeling.</a:t>
            </a:r>
            <a:endParaRPr/>
          </a:p>
          <a:p>
            <a:pPr indent="-342900" lvl="0" marL="342900" rtl="0" algn="l">
              <a:lnSpc>
                <a:spcPct val="90000"/>
              </a:lnSpc>
              <a:spcBef>
                <a:spcPts val="544"/>
              </a:spcBef>
              <a:spcAft>
                <a:spcPts val="0"/>
              </a:spcAft>
              <a:buClr>
                <a:schemeClr val="dk1"/>
              </a:buClr>
              <a:buSzPts val="2720"/>
              <a:buChar char="•"/>
            </a:pPr>
            <a:r>
              <a:rPr lang="en-US" sz="2720"/>
              <a:t>Multi-layer neural networks are usually hard to train.</a:t>
            </a:r>
            <a:endParaRPr/>
          </a:p>
          <a:p>
            <a:pPr indent="-342900" lvl="0" marL="342900" rtl="0" algn="l">
              <a:lnSpc>
                <a:spcPct val="90000"/>
              </a:lnSpc>
              <a:spcBef>
                <a:spcPts val="544"/>
              </a:spcBef>
              <a:spcAft>
                <a:spcPts val="0"/>
              </a:spcAft>
              <a:buClr>
                <a:schemeClr val="dk1"/>
              </a:buClr>
              <a:buSzPts val="2720"/>
              <a:buChar char="•"/>
            </a:pPr>
            <a:r>
              <a:rPr lang="en-US" sz="2720"/>
              <a:t>Requires significant training data for model ANN compared to other ML algorithms.</a:t>
            </a:r>
            <a:endParaRPr/>
          </a:p>
        </p:txBody>
      </p:sp>
      <p:sp>
        <p:nvSpPr>
          <p:cNvPr id="217" name="Google Shape;217;p13"/>
          <p:cNvSpPr txBox="1"/>
          <p:nvPr>
            <p:ph idx="12" type="sldNum"/>
          </p:nvPr>
        </p:nvSpPr>
        <p:spPr>
          <a:xfrm>
            <a:off x="8542050" y="4850600"/>
            <a:ext cx="4497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4"/>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t>Applications of ANN</a:t>
            </a:r>
            <a:endParaRPr/>
          </a:p>
        </p:txBody>
      </p:sp>
      <p:sp>
        <p:nvSpPr>
          <p:cNvPr id="223" name="Google Shape;223;p14"/>
          <p:cNvSpPr txBox="1"/>
          <p:nvPr>
            <p:ph idx="1" type="body"/>
          </p:nvPr>
        </p:nvSpPr>
        <p:spPr>
          <a:xfrm>
            <a:off x="304800" y="895350"/>
            <a:ext cx="8686800" cy="3699273"/>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2240"/>
              <a:buChar char="•"/>
            </a:pPr>
            <a:r>
              <a:rPr b="1" lang="en-US" sz="2240"/>
              <a:t>Image Processing and Character recognition:</a:t>
            </a:r>
            <a:r>
              <a:rPr lang="en-US" sz="2240"/>
              <a:t> Given ANNs ability to take in a lot of inputs, process them to infer hidden as well as complex, non-linear relationships, ANNs are playing a big role in image and character recognition</a:t>
            </a:r>
            <a:endParaRPr/>
          </a:p>
          <a:p>
            <a:pPr indent="-342900" lvl="0" marL="342900" rtl="0" algn="l">
              <a:lnSpc>
                <a:spcPct val="80000"/>
              </a:lnSpc>
              <a:spcBef>
                <a:spcPts val="448"/>
              </a:spcBef>
              <a:spcAft>
                <a:spcPts val="0"/>
              </a:spcAft>
              <a:buClr>
                <a:schemeClr val="dk1"/>
              </a:buClr>
              <a:buSzPts val="2240"/>
              <a:buChar char="•"/>
            </a:pPr>
            <a:r>
              <a:rPr b="1" lang="en-US" sz="2240"/>
              <a:t>Forecasting:</a:t>
            </a:r>
            <a:r>
              <a:rPr lang="en-US" sz="2240"/>
              <a:t> Forecasting is required extensively in everyday business decisions (e.g. sales, financial allocation between products, capacity utilization), in economic and monetary policy, in finance and stock market</a:t>
            </a:r>
            <a:endParaRPr/>
          </a:p>
          <a:p>
            <a:pPr indent="-342900" lvl="0" marL="342900" rtl="0" algn="l">
              <a:lnSpc>
                <a:spcPct val="80000"/>
              </a:lnSpc>
              <a:spcBef>
                <a:spcPts val="448"/>
              </a:spcBef>
              <a:spcAft>
                <a:spcPts val="0"/>
              </a:spcAft>
              <a:buClr>
                <a:schemeClr val="dk1"/>
              </a:buClr>
              <a:buSzPts val="2240"/>
              <a:buChar char="•"/>
            </a:pPr>
            <a:r>
              <a:rPr lang="en-US" sz="2240"/>
              <a:t>Game-playing and decision making (backgammon, chess, poker)</a:t>
            </a:r>
            <a:endParaRPr/>
          </a:p>
          <a:p>
            <a:pPr indent="-342900" lvl="0" marL="342900" rtl="0" algn="l">
              <a:lnSpc>
                <a:spcPct val="80000"/>
              </a:lnSpc>
              <a:spcBef>
                <a:spcPts val="448"/>
              </a:spcBef>
              <a:spcAft>
                <a:spcPts val="0"/>
              </a:spcAft>
              <a:buClr>
                <a:schemeClr val="dk1"/>
              </a:buClr>
              <a:buSzPts val="2240"/>
              <a:buChar char="•"/>
            </a:pPr>
            <a:r>
              <a:rPr b="1" lang="en-US" sz="2240"/>
              <a:t>Medical Diagnosis:  </a:t>
            </a:r>
            <a:r>
              <a:rPr lang="en-US" sz="2240"/>
              <a:t>Lung cancer,  prostate cancer, colorectal cancer</a:t>
            </a:r>
            <a:endParaRPr/>
          </a:p>
          <a:p>
            <a:pPr indent="-342900" lvl="0" marL="342900" rtl="0" algn="l">
              <a:lnSpc>
                <a:spcPct val="80000"/>
              </a:lnSpc>
              <a:spcBef>
                <a:spcPts val="448"/>
              </a:spcBef>
              <a:spcAft>
                <a:spcPts val="0"/>
              </a:spcAft>
              <a:buClr>
                <a:schemeClr val="dk1"/>
              </a:buClr>
              <a:buSzPts val="2240"/>
              <a:buChar char="•"/>
            </a:pPr>
            <a:r>
              <a:rPr lang="en-US" sz="2240"/>
              <a:t>To accelerate reliability analysis of infrastructures subject to natural disasters</a:t>
            </a:r>
            <a:endParaRPr/>
          </a:p>
        </p:txBody>
      </p:sp>
      <p:sp>
        <p:nvSpPr>
          <p:cNvPr id="224" name="Google Shape;224;p14"/>
          <p:cNvSpPr txBox="1"/>
          <p:nvPr>
            <p:ph idx="12" type="sldNum"/>
          </p:nvPr>
        </p:nvSpPr>
        <p:spPr>
          <a:xfrm>
            <a:off x="8528650" y="4850600"/>
            <a:ext cx="4629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5"/>
          <p:cNvSpPr txBox="1"/>
          <p:nvPr>
            <p:ph type="title"/>
          </p:nvPr>
        </p:nvSpPr>
        <p:spPr>
          <a:xfrm>
            <a:off x="152400" y="57150"/>
            <a:ext cx="6553200" cy="533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3200"/>
              <a:buFont typeface="Calibri"/>
              <a:buNone/>
            </a:pPr>
            <a:r>
              <a:rPr lang="en-US"/>
              <a:t>Modeling ANN</a:t>
            </a:r>
            <a:endParaRPr/>
          </a:p>
        </p:txBody>
      </p:sp>
      <p:sp>
        <p:nvSpPr>
          <p:cNvPr id="230" name="Google Shape;230;p15"/>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None/>
            </a:pPr>
            <a:r>
              <a:t/>
            </a:r>
            <a:endParaRPr sz="2400"/>
          </a:p>
          <a:p>
            <a:pPr indent="0" lvl="0" marL="0" rtl="0" algn="l">
              <a:lnSpc>
                <a:spcPct val="100000"/>
              </a:lnSpc>
              <a:spcBef>
                <a:spcPts val="480"/>
              </a:spcBef>
              <a:spcAft>
                <a:spcPts val="0"/>
              </a:spcAft>
              <a:buClr>
                <a:schemeClr val="dk1"/>
              </a:buClr>
              <a:buSzPts val="2400"/>
              <a:buNone/>
            </a:pPr>
            <a:r>
              <a:t/>
            </a:r>
            <a:endParaRPr sz="2400"/>
          </a:p>
          <a:p>
            <a:pPr indent="0" lvl="0" marL="0" rtl="0" algn="ctr">
              <a:lnSpc>
                <a:spcPct val="100000"/>
              </a:lnSpc>
              <a:spcBef>
                <a:spcPts val="720"/>
              </a:spcBef>
              <a:spcAft>
                <a:spcPts val="0"/>
              </a:spcAft>
              <a:buClr>
                <a:schemeClr val="dk1"/>
              </a:buClr>
              <a:buSzPts val="3600"/>
              <a:buNone/>
            </a:pPr>
            <a:r>
              <a:rPr lang="en-US" sz="3600"/>
              <a:t>MLP Classifier in action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Ashok HOME</dc:creator>
</cp:coreProperties>
</file>